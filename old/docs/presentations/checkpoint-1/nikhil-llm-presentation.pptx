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31e30e529a4274" /><Relationship Type="http://schemas.openxmlformats.org/officeDocument/2006/relationships/extended-properties" Target="/docProps/app.xml" Id="Rdcca5ffec39542cc" /><Relationship Type="http://schemas.openxmlformats.org/officeDocument/2006/relationships/officeDocument" Target="/ppt/presentation.xml" Id="R78ddc3307f914550" /></Relationships>
</file>

<file path=ppt/presentation.xml><?xml version="1.0" encoding="utf-8"?>
<p:presentation xmlns:p="http://schemas.openxmlformats.org/presentationml/2006/main">
  <p:sldMasterIdLst>
    <p:sldMasterId xmlns:r="http://schemas.openxmlformats.org/officeDocument/2006/relationships" id="2147483648" r:id="Re92a18cb43344eac"/>
  </p:sldMasterIdLst>
  <p:notesMasterIdLst>
    <p:notesMasterId xmlns:r="http://schemas.openxmlformats.org/officeDocument/2006/relationships" r:id="R6d58d5db829e4d60"/>
  </p:notesMasterIdLst>
  <p:sldIdLst>
    <p:sldId xmlns:r="http://schemas.openxmlformats.org/officeDocument/2006/relationships" id="256" r:id="R7c2a3877292b49d2"/>
    <p:sldId xmlns:r="http://schemas.openxmlformats.org/officeDocument/2006/relationships" id="257" r:id="R1ac17b2b29d2420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eef056ca3e24888" /><Relationship Type="http://schemas.openxmlformats.org/officeDocument/2006/relationships/slideMaster" Target="/ppt/slideMasters/slideMaster1.xml" Id="Re92a18cb43344eac" /><Relationship Type="http://schemas.openxmlformats.org/officeDocument/2006/relationships/notesMaster" Target="/ppt/notesMasters/notesMaster1.xml" Id="R6d58d5db829e4d60" /><Relationship Type="http://schemas.openxmlformats.org/officeDocument/2006/relationships/presProps" Target="/ppt/presProps.xml" Id="Raaf7a55587c34d50" /><Relationship Type="http://schemas.openxmlformats.org/officeDocument/2006/relationships/tableStyles" Target="/ppt/tableStyles.xml" Id="R3aeea49a64164fd9" /><Relationship Type="http://schemas.openxmlformats.org/officeDocument/2006/relationships/slide" Target="/ppt/slides/slide1.xml" Id="R7c2a3877292b49d2" /><Relationship Type="http://schemas.openxmlformats.org/officeDocument/2006/relationships/slide" Target="/ppt/slides/slide2.xml" Id="R1ac17b2b29d242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3cbc367fa14e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de358c39e64578" /><Relationship Type="http://schemas.openxmlformats.org/officeDocument/2006/relationships/notesMaster" Target="/ppt/notesMasters/notesMaster1.xml" Id="R16ed52e427d5413a"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822f3b2a99447b" /><Relationship Type="http://schemas.openxmlformats.org/officeDocument/2006/relationships/notesMaster" Target="/ppt/notesMasters/notesMaster1.xml" Id="R81d7aadd6f464e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section asks how the LLM can turn operational evidence into a useful diagnosis and a proposed repair. Ahmed and colleagues studied incident titles and summaries using zero-shot, fine-tuned, and multitask language models. Their ICSE 2023 study supports domain adaptation, but the confidential incident corpus makes exact reproduction difficult.</a:t>
            </a:r>
          </a:p>
          <a:p xmlns:a="http://schemas.openxmlformats.org/drawingml/2006/main">
            <a:r>
              <a:t/>
            </a:r>
          </a:p>
          <a:p xmlns:a="http://schemas.openxmlformats.org/drawingml/2006/main">
            <a:r>
              <a:t>RCACopilot collects diagnostic evidence through incident handlers and retrieves historical examples. In Table 2, its GPT-4 configuration reports micro-F1 of 0.766 and macro-F1 of 0.533 for root-cause category prediction, with average inference time of 4.205 seconds in that study. Those figures are published results, not our results or an end-to-end recovery guarantee.</a:t>
            </a:r>
          </a:p>
          <a:p xmlns:a="http://schemas.openxmlformats.org/drawingml/2006/main">
            <a:r>
              <a:t/>
            </a:r>
          </a:p>
          <a:p xmlns:a="http://schemas.openxmlformats.org/drawingml/2006/main">
            <a:r>
              <a:t>OpenRCA provides code, telemetry download instructions, and evaluation scripts. RCA-agent uses Python to inspect logs, metrics, and traces selectively. This makes it the most practical LLM research starting point among these three works. I propose combining selective evidence tools with retrieval and summarization, initially without fine-tuning. The exact model and LLM evaluation dataset still need team agreement. CausalRCA remains our separate selected reproduction baseline.</a:t>
            </a:r>
          </a:p>
          <a:p xmlns:a="http://schemas.openxmlformats.org/drawingml/2006/main">
            <a:r>
              <a:t/>
            </a:r>
          </a:p>
          <a:p xmlns:a="http://schemas.openxmlformats.org/drawingml/2006/main">
            <a:r>
              <a:t>References</a:t>
            </a:r>
          </a:p>
          <a:p xmlns:a="http://schemas.openxmlformats.org/drawingml/2006/main">
            <a:r>
              <a:t>Ahmed et al. (ICSE 2023), Recommending Root-Cause and Mitigation Steps for Cloud Incidents Using Large Language Models. https://doi.org/10.1109/ICSE48619.2023.00149 ; https://arxiv.org/abs/2301.03797</a:t>
            </a:r>
          </a:p>
          <a:p xmlns:a="http://schemas.openxmlformats.org/drawingml/2006/main">
            <a:r>
              <a:t>Chen et al. (EuroSys 2024), Automatic Root Cause Analysis via Large Language Models for Cloud Incidents. Table 2. https://doi.org/10.1145/3627703.3629553 ; https://arxiv.org/pdf/2305.15778</a:t>
            </a:r>
          </a:p>
          <a:p xmlns:a="http://schemas.openxmlformats.org/drawingml/2006/main">
            <a:r>
              <a:t>Xu et al. (ICLR 2025), OpenRCA: Can Large Language Models Locate the Root Cause of Software Failures? https://openreview.net/forum?id=M4qNIzQYpd ; implementation and compute guidance: https://github.com/microsoft/OpenRCA</a:t>
            </a:r>
          </a:p>
          <a:p xmlns:a="http://schemas.openxmlformats.org/drawingml/2006/main">
            <a:r>
              <a:t>Team baseline decision: https://github.com/sjsu-298a-team1/self-healing-cloud-systems/blob/8b4f6a7/docs/baseline/baseline-selection/causalrca-baseline-selection.md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anomaly detector first supplies the incident window. The service-graph component supplies candidate services. My LLM component then retrieves relevant metrics, trace neighborhoods, log excerpts, alerts, and runbooks using the same time window and service identifiers. SMD alone cannot support this stage because it has metrics without logs, distributed traces, or a service graph. OpenRCA and suitable RCAEval suites remain candidates for later diagnosis evaluation.</a:t>
            </a:r>
          </a:p>
          <a:p xmlns:a="http://schemas.openxmlformats.org/drawingml/2006/main">
            <a:r>
              <a:t/>
            </a:r>
          </a:p>
          <a:p xmlns:a="http://schemas.openxmlformats.org/drawingml/2006/main">
            <a:r>
              <a:t>The output should contain a diagnosis, a root-cause explanation linked to evidence, and a remediation proposal with its target, preconditions, verification steps, and rollback requirements. If evidence is missing or contradictory, the model should state uncertainty and request review. The separate action-risk classifier and hard policy checks decide whether any proposal can execute. The LLM has no direct execution authority in the proposed first prototype.</a:t>
            </a:r>
          </a:p>
          <a:p xmlns:a="http://schemas.openxmlformats.org/drawingml/2006/main">
            <a:r>
              <a:t/>
            </a:r>
          </a:p>
          <a:p xmlns:a="http://schemas.openxmlformats.org/drawingml/2006/main">
            <a:r>
              <a:t>Hallucination is a risk even when citations are present, so we must check whether cited evidence supports each claim. Time and service filtering reduce irrelevant context, but can omit useful evidence, so retrieval should be logged. We will cap tool rounds and tokens, cache reusable summaries, and report latency and inference cost. OpenRCA’s full setup recommends 32 GB RAM and 80 GB storage. A subset pilot must be profiled before we promise a smaller budget. API inference avoids local model training, but still incurs API cost. No LLM experiments have been run for this section. I hand the proposed action and its supporting evidence to the safety-gate section.</a:t>
            </a:r>
          </a:p>
          <a:p xmlns:a="http://schemas.openxmlformats.org/drawingml/2006/main">
            <a:r>
              <a:t/>
            </a:r>
          </a:p>
          <a:p xmlns:a="http://schemas.openxmlformats.org/drawingml/2006/main">
            <a:r>
              <a:t>References</a:t>
            </a:r>
          </a:p>
          <a:p xmlns:a="http://schemas.openxmlformats.org/drawingml/2006/main">
            <a:r>
              <a:t>Ahmed et al. (ICSE 2023), Recommending Root-Cause and Mitigation Steps for Cloud Incidents Using Large Language Models. https://doi.org/10.1109/ICSE48619.2023.00149 ; https://arxiv.org/abs/2301.03797</a:t>
            </a:r>
          </a:p>
          <a:p xmlns:a="http://schemas.openxmlformats.org/drawingml/2006/main">
            <a:r>
              <a:t>Chen et al. (EuroSys 2024), Automatic Root Cause Analysis via Large Language Models for Cloud Incidents. Table 2. https://doi.org/10.1145/3627703.3629553 ; https://arxiv.org/pdf/2305.15778</a:t>
            </a:r>
          </a:p>
          <a:p xmlns:a="http://schemas.openxmlformats.org/drawingml/2006/main">
            <a:r>
              <a:t>Xu et al. (ICLR 2025), OpenRCA: Can Large Language Models Locate the Root Cause of Software Failures? https://openreview.net/forum?id=M4qNIzQYpd ; implementation and compute guidance: https://github.com/microsoft/OpenRCA</a:t>
            </a:r>
          </a:p>
          <a:p xmlns:a="http://schemas.openxmlformats.org/drawingml/2006/main">
            <a:r>
              <a:t>Team baseline decision: https://github.com/sjsu-298a-team1/self-healing-cloud-systems/blob/8b4f6a7/docs/baseline/baseline-selection/causalrca-baseline-selection.md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febca9ab4944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a016affe1004a20" /><Relationship Type="http://schemas.openxmlformats.org/officeDocument/2006/relationships/slideLayout" Target="/ppt/slideLayouts/slideLayout1.xml" Id="Rd8bb0a21261a447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8bb0a21261a447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1d068359ce646c5" /><Relationship Type="http://schemas.openxmlformats.org/officeDocument/2006/relationships/notesSlide" Target="/ppt/notesSlides/notesSlide1.xml" Id="Rabbcc81f582441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68b8d3fb5e14b78" /><Relationship Type="http://schemas.openxmlformats.org/officeDocument/2006/relationships/notesSlide" Target="/ppt/notesSlides/notesSlide2.xml" Id="Ra802526c71424b6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3AB489B-0998-445C-BE5C-A61076B9A3D9}"/>
              </a:ext>
            </a:extLst>
          </p:cNvPr>
          <p:cNvSpPr>
            <a:spLocks xmlns:a="http://schemas.openxmlformats.org/drawingml/2006/main" noGrp="1"/>
          </p:cNvSpPr>
          <p:nvPr/>
        </p:nvSpPr>
        <p:spPr>
          <a:xfrm xmlns:a="http://schemas.openxmlformats.org/drawingml/2006/main">
            <a:off x="609600" y="3810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B3A"/>
                </a:solidFill>
                <a:latin typeface="Bitstream Charter"/>
                <a:ea typeface="Bitstream Charter"/>
                <a:cs typeface="Bitstream Charter"/>
              </a:defRPr>
            </a:pPr>
            <a:r>
              <a:rPr sz="3300" b="1">
                <a:solidFill>
                  <a:srgbClr val="172B3A"/>
                </a:solidFill>
                <a:latin typeface="Bitstream Charter"/>
                <a:ea typeface="Bitstream Charter"/>
                <a:cs typeface="Bitstream Charter"/>
              </a:rPr>
              <a:t>LLM diagnosis and remediation research</a:t>
            </a:r>
          </a:p>
        </p:txBody>
      </p:sp>
      <p:sp>
        <p:nvSpPr>
          <p:cNvPr id="2" name="">
            <a:extLst xmlns:a="http://schemas.openxmlformats.org/drawingml/2006/main">
              <a:ext uri="{FF2B5EF4-FFF2-40B4-BE49-F238E27FC236}">
                <a16:creationId xmlns:a16="http://schemas.microsoft.com/office/drawing/2014/main" id="{AE628248-28D3-4195-AC82-852A60E62187}"/>
              </a:ext>
            </a:extLst>
          </p:cNvPr>
          <p:cNvSpPr>
            <a:spLocks xmlns:a="http://schemas.openxmlformats.org/drawingml/2006/main" noGrp="1"/>
          </p:cNvSpPr>
          <p:nvPr/>
        </p:nvSpPr>
        <p:spPr>
          <a:xfrm xmlns:a="http://schemas.openxmlformats.org/drawingml/2006/main">
            <a:off x="609600" y="1409700"/>
            <a:ext cx="2952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666A"/>
                </a:solidFill>
                <a:latin typeface="Bitstream Charter"/>
                <a:ea typeface="Bitstream Charter"/>
                <a:cs typeface="Bitstream Charter"/>
              </a:defRPr>
            </a:pPr>
            <a:r>
              <a:rPr sz="2025" b="1">
                <a:solidFill>
                  <a:srgbClr val="16666A"/>
                </a:solidFill>
                <a:latin typeface="Bitstream Charter"/>
                <a:ea typeface="Bitstream Charter"/>
                <a:cs typeface="Bitstream Charter"/>
              </a:rPr>
              <a:t>Incident-text generation</a:t>
            </a:r>
          </a:p>
        </p:txBody>
      </p:sp>
      <p:sp>
        <p:nvSpPr>
          <p:cNvPr id="3" name="">
            <a:extLst xmlns:a="http://schemas.openxmlformats.org/drawingml/2006/main">
              <a:ext uri="{FF2B5EF4-FFF2-40B4-BE49-F238E27FC236}">
                <a16:creationId xmlns:a16="http://schemas.microsoft.com/office/drawing/2014/main" id="{917A1D33-0D33-419E-AF16-A84C524E9026}"/>
              </a:ext>
            </a:extLst>
          </p:cNvPr>
          <p:cNvSpPr>
            <a:spLocks xmlns:a="http://schemas.openxmlformats.org/drawingml/2006/main" noGrp="1"/>
          </p:cNvSpPr>
          <p:nvPr/>
        </p:nvSpPr>
        <p:spPr>
          <a:xfrm xmlns:a="http://schemas.openxmlformats.org/drawingml/2006/main">
            <a:off x="3829050" y="1409700"/>
            <a:ext cx="7715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B3A"/>
                </a:solidFill>
                <a:latin typeface="Bitstream Charter"/>
                <a:ea typeface="Bitstream Charter"/>
                <a:cs typeface="Bitstream Charter"/>
              </a:defRPr>
            </a:pPr>
            <a:r>
              <a:rPr sz="1875" b="0">
                <a:solidFill>
                  <a:srgbClr val="172B3A"/>
                </a:solidFill>
                <a:latin typeface="Bitstream Charter"/>
                <a:ea typeface="Bitstream Charter"/>
                <a:cs typeface="Bitstream Charter"/>
              </a:rPr>
              <a:t>Ahmed et al., ICSE 2023</a:t>
            </a:r>
          </a:p>
          <a:p xmlns:a="http://schemas.openxmlformats.org/drawingml/2006/main">
            <a:pPr>
              <a:defRPr sz="1875" b="0">
                <a:solidFill>
                  <a:srgbClr val="172B3A"/>
                </a:solidFill>
                <a:latin typeface="Bitstream Charter"/>
                <a:ea typeface="Bitstream Charter"/>
                <a:cs typeface="Bitstream Charter"/>
              </a:defRPr>
            </a:pPr>
            <a:r>
              <a:rPr sz="1875" b="0">
                <a:solidFill>
                  <a:srgbClr val="172B3A"/>
                </a:solidFill>
                <a:latin typeface="Bitstream Charter"/>
                <a:ea typeface="Bitstream Charter"/>
                <a:cs typeface="Bitstream Charter"/>
              </a:rPr>
              <a:t>Fine-tuning supports diagnosis and mitigation from incident text.</a:t>
            </a:r>
          </a:p>
          <a:p xmlns:a="http://schemas.openxmlformats.org/drawingml/2006/main">
            <a:pPr>
              <a:defRPr sz="1875" b="0">
                <a:solidFill>
                  <a:srgbClr val="172B3A"/>
                </a:solidFill>
                <a:latin typeface="Bitstream Charter"/>
                <a:ea typeface="Bitstream Charter"/>
                <a:cs typeface="Bitstream Charter"/>
              </a:defRPr>
            </a:pPr>
            <a:r>
              <a:rPr sz="1875" b="0">
                <a:solidFill>
                  <a:srgbClr val="172B3A"/>
                </a:solidFill>
                <a:latin typeface="Bitstream Charter"/>
                <a:ea typeface="Bitstream Charter"/>
                <a:cs typeface="Bitstream Charter"/>
              </a:rPr>
              <a:t>Private production data limits reproduction.</a:t>
            </a:r>
          </a:p>
        </p:txBody>
      </p:sp>
      <p:sp>
        <p:nvSpPr>
          <p:cNvPr id="4" name="">
            <a:extLst xmlns:a="http://schemas.openxmlformats.org/drawingml/2006/main">
              <a:ext uri="{FF2B5EF4-FFF2-40B4-BE49-F238E27FC236}">
                <a16:creationId xmlns:a16="http://schemas.microsoft.com/office/drawing/2014/main" id="{F7F0FD5B-321A-402B-B2F0-34E9D5EA8DC1}"/>
              </a:ext>
            </a:extLst>
          </p:cNvPr>
          <p:cNvSpPr>
            <a:spLocks xmlns:a="http://schemas.openxmlformats.org/drawingml/2006/main" noGrp="1"/>
          </p:cNvSpPr>
          <p:nvPr/>
        </p:nvSpPr>
        <p:spPr>
          <a:xfrm xmlns:a="http://schemas.openxmlformats.org/drawingml/2006/main">
            <a:off x="609600" y="2790825"/>
            <a:ext cx="2952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666A"/>
                </a:solidFill>
                <a:latin typeface="Bitstream Charter"/>
                <a:ea typeface="Bitstream Charter"/>
                <a:cs typeface="Bitstream Charter"/>
              </a:defRPr>
            </a:pPr>
            <a:r>
              <a:rPr sz="2025" b="1">
                <a:solidFill>
                  <a:srgbClr val="16666A"/>
                </a:solidFill>
                <a:latin typeface="Bitstream Charter"/>
                <a:ea typeface="Bitstream Charter"/>
                <a:cs typeface="Bitstream Charter"/>
              </a:rPr>
              <a:t>Evidence and historical cases</a:t>
            </a:r>
          </a:p>
        </p:txBody>
      </p:sp>
      <p:sp>
        <p:nvSpPr>
          <p:cNvPr id="5" name="">
            <a:extLst xmlns:a="http://schemas.openxmlformats.org/drawingml/2006/main">
              <a:ext uri="{FF2B5EF4-FFF2-40B4-BE49-F238E27FC236}">
                <a16:creationId xmlns:a16="http://schemas.microsoft.com/office/drawing/2014/main" id="{3FEB5309-E4B6-4843-A03D-4B4D9F87FEEB}"/>
              </a:ext>
            </a:extLst>
          </p:cNvPr>
          <p:cNvSpPr>
            <a:spLocks xmlns:a="http://schemas.openxmlformats.org/drawingml/2006/main" noGrp="1"/>
          </p:cNvSpPr>
          <p:nvPr/>
        </p:nvSpPr>
        <p:spPr>
          <a:xfrm xmlns:a="http://schemas.openxmlformats.org/drawingml/2006/main">
            <a:off x="3829050" y="2790825"/>
            <a:ext cx="7715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B3A"/>
                </a:solidFill>
                <a:latin typeface="Bitstream Charter"/>
                <a:ea typeface="Bitstream Charter"/>
                <a:cs typeface="Bitstream Charter"/>
              </a:defRPr>
            </a:pPr>
            <a:r>
              <a:rPr sz="1875" b="0">
                <a:solidFill>
                  <a:srgbClr val="172B3A"/>
                </a:solidFill>
                <a:latin typeface="Bitstream Charter"/>
                <a:ea typeface="Bitstream Charter"/>
                <a:cs typeface="Bitstream Charter"/>
              </a:rPr>
              <a:t>RCACopilot, EuroSys 2024</a:t>
            </a:r>
          </a:p>
          <a:p xmlns:a="http://schemas.openxmlformats.org/drawingml/2006/main">
            <a:pPr>
              <a:defRPr sz="1875" b="0">
                <a:solidFill>
                  <a:srgbClr val="172B3A"/>
                </a:solidFill>
                <a:latin typeface="Bitstream Charter"/>
                <a:ea typeface="Bitstream Charter"/>
                <a:cs typeface="Bitstream Charter"/>
              </a:defRPr>
            </a:pPr>
            <a:r>
              <a:rPr sz="1875" b="0">
                <a:solidFill>
                  <a:srgbClr val="172B3A"/>
                </a:solidFill>
                <a:latin typeface="Bitstream Charter"/>
                <a:ea typeface="Bitstream Charter"/>
                <a:cs typeface="Bitstream Charter"/>
              </a:rPr>
              <a:t>GPT-4 root-cause category micro-F1: 0.766 (Table 2).</a:t>
            </a:r>
          </a:p>
          <a:p xmlns:a="http://schemas.openxmlformats.org/drawingml/2006/main">
            <a:pPr>
              <a:defRPr sz="1875" b="0">
                <a:solidFill>
                  <a:srgbClr val="172B3A"/>
                </a:solidFill>
                <a:latin typeface="Bitstream Charter"/>
                <a:ea typeface="Bitstream Charter"/>
                <a:cs typeface="Bitstream Charter"/>
              </a:defRPr>
            </a:pPr>
            <a:r>
              <a:rPr sz="1875" b="0">
                <a:solidFill>
                  <a:srgbClr val="172B3A"/>
                </a:solidFill>
                <a:latin typeface="Bitstream Charter"/>
                <a:ea typeface="Bitstream Charter"/>
                <a:cs typeface="Bitstream Charter"/>
              </a:rPr>
              <a:t>Production handlers and data limit portability.</a:t>
            </a:r>
          </a:p>
        </p:txBody>
      </p:sp>
      <p:sp>
        <p:nvSpPr>
          <p:cNvPr id="6" name="">
            <a:extLst xmlns:a="http://schemas.openxmlformats.org/drawingml/2006/main">
              <a:ext uri="{FF2B5EF4-FFF2-40B4-BE49-F238E27FC236}">
                <a16:creationId xmlns:a16="http://schemas.microsoft.com/office/drawing/2014/main" id="{2DD23036-D49D-48AA-9575-12656256ACBE}"/>
              </a:ext>
            </a:extLst>
          </p:cNvPr>
          <p:cNvSpPr>
            <a:spLocks xmlns:a="http://schemas.openxmlformats.org/drawingml/2006/main" noGrp="1"/>
          </p:cNvSpPr>
          <p:nvPr/>
        </p:nvSpPr>
        <p:spPr>
          <a:xfrm xmlns:a="http://schemas.openxmlformats.org/drawingml/2006/main">
            <a:off x="609600" y="4171950"/>
            <a:ext cx="2952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666A"/>
                </a:solidFill>
                <a:latin typeface="Bitstream Charter"/>
                <a:ea typeface="Bitstream Charter"/>
                <a:cs typeface="Bitstream Charter"/>
              </a:defRPr>
            </a:pPr>
            <a:r>
              <a:rPr sz="2025" b="1">
                <a:solidFill>
                  <a:srgbClr val="16666A"/>
                </a:solidFill>
                <a:latin typeface="Bitstream Charter"/>
                <a:ea typeface="Bitstream Charter"/>
                <a:cs typeface="Bitstream Charter"/>
              </a:rPr>
              <a:t>Public telemetry and analysis tools</a:t>
            </a:r>
          </a:p>
        </p:txBody>
      </p:sp>
      <p:sp>
        <p:nvSpPr>
          <p:cNvPr id="7" name="">
            <a:extLst xmlns:a="http://schemas.openxmlformats.org/drawingml/2006/main">
              <a:ext uri="{FF2B5EF4-FFF2-40B4-BE49-F238E27FC236}">
                <a16:creationId xmlns:a16="http://schemas.microsoft.com/office/drawing/2014/main" id="{DAA61201-9C3D-41D0-8131-A4279C7DC68D}"/>
              </a:ext>
            </a:extLst>
          </p:cNvPr>
          <p:cNvSpPr>
            <a:spLocks xmlns:a="http://schemas.openxmlformats.org/drawingml/2006/main" noGrp="1"/>
          </p:cNvSpPr>
          <p:nvPr/>
        </p:nvSpPr>
        <p:spPr>
          <a:xfrm xmlns:a="http://schemas.openxmlformats.org/drawingml/2006/main">
            <a:off x="3829050" y="4171950"/>
            <a:ext cx="7715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B3A"/>
                </a:solidFill>
                <a:latin typeface="Bitstream Charter"/>
                <a:ea typeface="Bitstream Charter"/>
                <a:cs typeface="Bitstream Charter"/>
              </a:defRPr>
            </a:pPr>
            <a:r>
              <a:rPr sz="1875" b="0">
                <a:solidFill>
                  <a:srgbClr val="172B3A"/>
                </a:solidFill>
                <a:latin typeface="Bitstream Charter"/>
                <a:ea typeface="Bitstream Charter"/>
                <a:cs typeface="Bitstream Charter"/>
              </a:rPr>
              <a:t>OpenRCA, ICLR 2025</a:t>
            </a:r>
          </a:p>
          <a:p xmlns:a="http://schemas.openxmlformats.org/drawingml/2006/main">
            <a:pPr>
              <a:defRPr sz="1875" b="0">
                <a:solidFill>
                  <a:srgbClr val="172B3A"/>
                </a:solidFill>
                <a:latin typeface="Bitstream Charter"/>
                <a:ea typeface="Bitstream Charter"/>
                <a:cs typeface="Bitstream Charter"/>
              </a:defRPr>
            </a:pPr>
            <a:r>
              <a:rPr sz="1875" b="0">
                <a:solidFill>
                  <a:srgbClr val="172B3A"/>
                </a:solidFill>
                <a:latin typeface="Bitstream Charter"/>
                <a:ea typeface="Bitstream Charter"/>
                <a:cs typeface="Bitstream Charter"/>
              </a:rPr>
              <a:t>RCA-agent selectively analyzes logs, metrics, and traces with Python.</a:t>
            </a:r>
          </a:p>
          <a:p xmlns:a="http://schemas.openxmlformats.org/drawingml/2006/main">
            <a:pPr>
              <a:defRPr sz="1875" b="0">
                <a:solidFill>
                  <a:srgbClr val="172B3A"/>
                </a:solidFill>
                <a:latin typeface="Bitstream Charter"/>
                <a:ea typeface="Bitstream Charter"/>
                <a:cs typeface="Bitstream Charter"/>
              </a:defRPr>
            </a:pPr>
            <a:r>
              <a:rPr sz="1875" b="0">
                <a:solidFill>
                  <a:srgbClr val="172B3A"/>
                </a:solidFill>
                <a:latin typeface="Bitstream Charter"/>
                <a:ea typeface="Bitstream Charter"/>
                <a:cs typeface="Bitstream Charter"/>
              </a:rPr>
              <a:t>Public code and evaluation support a focused pilot.</a:t>
            </a:r>
          </a:p>
        </p:txBody>
      </p:sp>
      <p:sp>
        <p:nvSpPr>
          <p:cNvPr id="8" name="">
            <a:extLst xmlns:a="http://schemas.openxmlformats.org/drawingml/2006/main">
              <a:ext uri="{FF2B5EF4-FFF2-40B4-BE49-F238E27FC236}">
                <a16:creationId xmlns:a16="http://schemas.microsoft.com/office/drawing/2014/main" id="{ABFDE23A-11FD-4A2C-AFE9-09BB17657E94}"/>
              </a:ext>
            </a:extLst>
          </p:cNvPr>
          <p:cNvSpPr>
            <a:spLocks xmlns:a="http://schemas.openxmlformats.org/drawingml/2006/main" noGrp="1"/>
          </p:cNvSpPr>
          <p:nvPr/>
        </p:nvSpPr>
        <p:spPr>
          <a:xfrm xmlns:a="http://schemas.openxmlformats.org/drawingml/2006/main">
            <a:off x="609600" y="57340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2B3A"/>
                </a:solidFill>
                <a:latin typeface="Bitstream Charter"/>
                <a:ea typeface="Bitstream Charter"/>
                <a:cs typeface="Bitstream Charter"/>
              </a:defRPr>
            </a:pPr>
            <a:r>
              <a:rPr sz="2025" b="1">
                <a:solidFill>
                  <a:srgbClr val="172B3A"/>
                </a:solidFill>
                <a:latin typeface="Bitstream Charter"/>
                <a:ea typeface="Bitstream Charter"/>
                <a:cs typeface="Bitstream Charter"/>
              </a:rPr>
              <a:t>Proposed LLM approach: selective evidence tools plus retrieval and summarization</a:t>
            </a:r>
          </a:p>
        </p:txBody>
      </p:sp>
    </p:spTree>
    <p:extLst>
      <p:ext uri="{BB962C8B-B14F-4D97-AF65-F5344CB8AC3E}">
        <p14:creationId xmlns:p14="http://schemas.microsoft.com/office/powerpoint/2010/main" val="156010315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5FBD5A3-1FAA-48F2-A196-D3FE77727EC1}"/>
              </a:ext>
            </a:extLst>
          </p:cNvPr>
          <p:cNvSpPr>
            <a:spLocks xmlns:a="http://schemas.openxmlformats.org/drawingml/2006/main" noGrp="1"/>
          </p:cNvSpPr>
          <p:nvPr/>
        </p:nvSpPr>
        <p:spPr>
          <a:xfrm xmlns:a="http://schemas.openxmlformats.org/drawingml/2006/main">
            <a:off x="609600" y="3810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B3A"/>
                </a:solidFill>
                <a:latin typeface="Bitstream Charter"/>
                <a:ea typeface="Bitstream Charter"/>
                <a:cs typeface="Bitstream Charter"/>
              </a:defRPr>
            </a:pPr>
            <a:r>
              <a:rPr sz="3300" b="1">
                <a:solidFill>
                  <a:srgbClr val="172B3A"/>
                </a:solidFill>
                <a:latin typeface="Bitstream Charter"/>
                <a:ea typeface="Bitstream Charter"/>
                <a:cs typeface="Bitstream Charter"/>
              </a:rPr>
              <a:t>Proposed LLM component and controls</a:t>
            </a:r>
          </a:p>
        </p:txBody>
      </p:sp>
      <p:sp>
        <p:nvSpPr>
          <p:cNvPr id="2" name="">
            <a:extLst xmlns:a="http://schemas.openxmlformats.org/drawingml/2006/main">
              <a:ext uri="{FF2B5EF4-FFF2-40B4-BE49-F238E27FC236}">
                <a16:creationId xmlns:a16="http://schemas.microsoft.com/office/drawing/2014/main" id="{1B636DFD-EEC0-4113-8497-322A0982F09E}"/>
              </a:ext>
            </a:extLst>
          </p:cNvPr>
          <p:cNvSpPr>
            <a:spLocks xmlns:a="http://schemas.openxmlformats.org/drawingml/2006/main" noGrp="1"/>
          </p:cNvSpPr>
          <p:nvPr/>
        </p:nvSpPr>
        <p:spPr>
          <a:xfrm xmlns:a="http://schemas.openxmlformats.org/drawingml/2006/main">
            <a:off x="609600" y="1409700"/>
            <a:ext cx="2952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666A"/>
                </a:solidFill>
                <a:latin typeface="Bitstream Charter"/>
                <a:ea typeface="Bitstream Charter"/>
                <a:cs typeface="Bitstream Charter"/>
              </a:defRPr>
            </a:pPr>
            <a:r>
              <a:rPr sz="2025" b="1">
                <a:solidFill>
                  <a:srgbClr val="16666A"/>
                </a:solidFill>
                <a:latin typeface="Bitstream Charter"/>
                <a:ea typeface="Bitstream Charter"/>
                <a:cs typeface="Bitstream Charter"/>
              </a:rPr>
              <a:t>Inputs and outputs</a:t>
            </a:r>
          </a:p>
        </p:txBody>
      </p:sp>
      <p:sp>
        <p:nvSpPr>
          <p:cNvPr id="3" name="">
            <a:extLst xmlns:a="http://schemas.openxmlformats.org/drawingml/2006/main">
              <a:ext uri="{FF2B5EF4-FFF2-40B4-BE49-F238E27FC236}">
                <a16:creationId xmlns:a16="http://schemas.microsoft.com/office/drawing/2014/main" id="{DAEF5CCF-1AC6-4BCA-A8EA-6EDFE1956D8F}"/>
              </a:ext>
            </a:extLst>
          </p:cNvPr>
          <p:cNvSpPr>
            <a:spLocks xmlns:a="http://schemas.openxmlformats.org/drawingml/2006/main" noGrp="1"/>
          </p:cNvSpPr>
          <p:nvPr/>
        </p:nvSpPr>
        <p:spPr>
          <a:xfrm xmlns:a="http://schemas.openxmlformats.org/drawingml/2006/main">
            <a:off x="3829050" y="1409700"/>
            <a:ext cx="7715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B3A"/>
                </a:solidFill>
                <a:latin typeface="Bitstream Charter"/>
                <a:ea typeface="Bitstream Charter"/>
                <a:cs typeface="Bitstream Charter"/>
              </a:defRPr>
            </a:pPr>
            <a:r>
              <a:rPr sz="1875" b="0">
                <a:solidFill>
                  <a:srgbClr val="172B3A"/>
                </a:solidFill>
                <a:latin typeface="Bitstream Charter"/>
                <a:ea typeface="Bitstream Charter"/>
                <a:cs typeface="Bitstream Charter"/>
              </a:rPr>
              <a:t>Inputs: anomaly window, candidate services, metrics, logs, traces, alerts, and runbooks.</a:t>
            </a:r>
          </a:p>
          <a:p xmlns:a="http://schemas.openxmlformats.org/drawingml/2006/main">
            <a:pPr>
              <a:defRPr sz="1875" b="0">
                <a:solidFill>
                  <a:srgbClr val="172B3A"/>
                </a:solidFill>
                <a:latin typeface="Bitstream Charter"/>
                <a:ea typeface="Bitstream Charter"/>
                <a:cs typeface="Bitstream Charter"/>
              </a:defRPr>
            </a:pPr>
            <a:r>
              <a:rPr sz="1875" b="0">
                <a:solidFill>
                  <a:srgbClr val="172B3A"/>
                </a:solidFill>
                <a:latin typeface="Bitstream Charter"/>
                <a:ea typeface="Bitstream Charter"/>
                <a:cs typeface="Bitstream Charter"/>
              </a:rPr>
              <a:t>Outputs: evidence-linked diagnosis, cause explanation, and remediation proposal.</a:t>
            </a:r>
          </a:p>
        </p:txBody>
      </p:sp>
      <p:sp>
        <p:nvSpPr>
          <p:cNvPr id="4" name="">
            <a:extLst xmlns:a="http://schemas.openxmlformats.org/drawingml/2006/main">
              <a:ext uri="{FF2B5EF4-FFF2-40B4-BE49-F238E27FC236}">
                <a16:creationId xmlns:a16="http://schemas.microsoft.com/office/drawing/2014/main" id="{4950103C-B096-45B6-8D11-B23D8FAF9065}"/>
              </a:ext>
            </a:extLst>
          </p:cNvPr>
          <p:cNvSpPr>
            <a:spLocks xmlns:a="http://schemas.openxmlformats.org/drawingml/2006/main" noGrp="1"/>
          </p:cNvSpPr>
          <p:nvPr/>
        </p:nvSpPr>
        <p:spPr>
          <a:xfrm xmlns:a="http://schemas.openxmlformats.org/drawingml/2006/main">
            <a:off x="609600" y="2790825"/>
            <a:ext cx="2952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666A"/>
                </a:solidFill>
                <a:latin typeface="Bitstream Charter"/>
                <a:ea typeface="Bitstream Charter"/>
                <a:cs typeface="Bitstream Charter"/>
              </a:defRPr>
            </a:pPr>
            <a:r>
              <a:rPr sz="2025" b="1">
                <a:solidFill>
                  <a:srgbClr val="16666A"/>
                </a:solidFill>
                <a:latin typeface="Bitstream Charter"/>
                <a:ea typeface="Bitstream Charter"/>
                <a:cs typeface="Bitstream Charter"/>
              </a:rPr>
              <a:t>Grounding and safety</a:t>
            </a:r>
          </a:p>
        </p:txBody>
      </p:sp>
      <p:sp>
        <p:nvSpPr>
          <p:cNvPr id="5" name="">
            <a:extLst xmlns:a="http://schemas.openxmlformats.org/drawingml/2006/main">
              <a:ext uri="{FF2B5EF4-FFF2-40B4-BE49-F238E27FC236}">
                <a16:creationId xmlns:a16="http://schemas.microsoft.com/office/drawing/2014/main" id="{CFC7051A-B140-4E7F-8065-89A7ACAA75CA}"/>
              </a:ext>
            </a:extLst>
          </p:cNvPr>
          <p:cNvSpPr>
            <a:spLocks xmlns:a="http://schemas.openxmlformats.org/drawingml/2006/main" noGrp="1"/>
          </p:cNvSpPr>
          <p:nvPr/>
        </p:nvSpPr>
        <p:spPr>
          <a:xfrm xmlns:a="http://schemas.openxmlformats.org/drawingml/2006/main">
            <a:off x="3829050" y="2790825"/>
            <a:ext cx="7715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B3A"/>
                </a:solidFill>
                <a:latin typeface="Bitstream Charter"/>
                <a:ea typeface="Bitstream Charter"/>
                <a:cs typeface="Bitstream Charter"/>
              </a:defRPr>
            </a:pPr>
            <a:r>
              <a:rPr sz="1875" b="0">
                <a:solidFill>
                  <a:srgbClr val="172B3A"/>
                </a:solidFill>
                <a:latin typeface="Bitstream Charter"/>
                <a:ea typeface="Bitstream Charter"/>
                <a:cs typeface="Bitstream Charter"/>
              </a:rPr>
              <a:t>Filter evidence by time and service. Check cited support and allow abstention.</a:t>
            </a:r>
          </a:p>
          <a:p xmlns:a="http://schemas.openxmlformats.org/drawingml/2006/main">
            <a:pPr>
              <a:defRPr sz="1875" b="0">
                <a:solidFill>
                  <a:srgbClr val="172B3A"/>
                </a:solidFill>
                <a:latin typeface="Bitstream Charter"/>
                <a:ea typeface="Bitstream Charter"/>
                <a:cs typeface="Bitstream Charter"/>
              </a:defRPr>
            </a:pPr>
            <a:r>
              <a:rPr sz="1875" b="0">
                <a:solidFill>
                  <a:srgbClr val="172B3A"/>
                </a:solidFill>
                <a:latin typeface="Bitstream Charter"/>
                <a:ea typeface="Bitstream Charter"/>
                <a:cs typeface="Bitstream Charter"/>
              </a:rPr>
              <a:t>Pass proposals to the action-risk gate before any execution.</a:t>
            </a:r>
          </a:p>
        </p:txBody>
      </p:sp>
      <p:sp>
        <p:nvSpPr>
          <p:cNvPr id="6" name="">
            <a:extLst xmlns:a="http://schemas.openxmlformats.org/drawingml/2006/main">
              <a:ext uri="{FF2B5EF4-FFF2-40B4-BE49-F238E27FC236}">
                <a16:creationId xmlns:a16="http://schemas.microsoft.com/office/drawing/2014/main" id="{DC4E70C0-4EC0-44FB-A8A3-61FD5BB14329}"/>
              </a:ext>
            </a:extLst>
          </p:cNvPr>
          <p:cNvSpPr>
            <a:spLocks xmlns:a="http://schemas.openxmlformats.org/drawingml/2006/main" noGrp="1"/>
          </p:cNvSpPr>
          <p:nvPr/>
        </p:nvSpPr>
        <p:spPr>
          <a:xfrm xmlns:a="http://schemas.openxmlformats.org/drawingml/2006/main">
            <a:off x="609600" y="4171950"/>
            <a:ext cx="2952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666A"/>
                </a:solidFill>
                <a:latin typeface="Bitstream Charter"/>
                <a:ea typeface="Bitstream Charter"/>
                <a:cs typeface="Bitstream Charter"/>
              </a:defRPr>
            </a:pPr>
            <a:r>
              <a:rPr sz="2025" b="1">
                <a:solidFill>
                  <a:srgbClr val="16666A"/>
                </a:solidFill>
                <a:latin typeface="Bitstream Charter"/>
                <a:ea typeface="Bitstream Charter"/>
                <a:cs typeface="Bitstream Charter"/>
              </a:rPr>
              <a:t>Feasibility and evaluation</a:t>
            </a:r>
          </a:p>
        </p:txBody>
      </p:sp>
      <p:sp>
        <p:nvSpPr>
          <p:cNvPr id="7" name="">
            <a:extLst xmlns:a="http://schemas.openxmlformats.org/drawingml/2006/main">
              <a:ext uri="{FF2B5EF4-FFF2-40B4-BE49-F238E27FC236}">
                <a16:creationId xmlns:a16="http://schemas.microsoft.com/office/drawing/2014/main" id="{C6A6FA26-A509-41C7-A1D2-CA3E7F0B0F29}"/>
              </a:ext>
            </a:extLst>
          </p:cNvPr>
          <p:cNvSpPr>
            <a:spLocks xmlns:a="http://schemas.openxmlformats.org/drawingml/2006/main" noGrp="1"/>
          </p:cNvSpPr>
          <p:nvPr/>
        </p:nvSpPr>
        <p:spPr>
          <a:xfrm xmlns:a="http://schemas.openxmlformats.org/drawingml/2006/main">
            <a:off x="3829050" y="4171950"/>
            <a:ext cx="7715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B3A"/>
                </a:solidFill>
                <a:latin typeface="Bitstream Charter"/>
                <a:ea typeface="Bitstream Charter"/>
                <a:cs typeface="Bitstream Charter"/>
              </a:defRPr>
            </a:pPr>
            <a:r>
              <a:rPr sz="1875" b="0">
                <a:solidFill>
                  <a:srgbClr val="172B3A"/>
                </a:solidFill>
                <a:latin typeface="Bitstream Charter"/>
                <a:ea typeface="Bitstream Charter"/>
                <a:cs typeface="Bitstream Charter"/>
              </a:rPr>
              <a:t>Start with API inference and bounded tool calls. Profile latency and token cost.</a:t>
            </a:r>
          </a:p>
          <a:p xmlns:a="http://schemas.openxmlformats.org/drawingml/2006/main">
            <a:pPr>
              <a:defRPr sz="1875" b="0">
                <a:solidFill>
                  <a:srgbClr val="172B3A"/>
                </a:solidFill>
                <a:latin typeface="Bitstream Charter"/>
                <a:ea typeface="Bitstream Charter"/>
                <a:cs typeface="Bitstream Charter"/>
              </a:defRPr>
            </a:pPr>
            <a:r>
              <a:rPr sz="1875" b="0">
                <a:solidFill>
                  <a:srgbClr val="172B3A"/>
                </a:solidFill>
                <a:latin typeface="Bitstream Charter"/>
                <a:ea typeface="Bitstream Charter"/>
                <a:cs typeface="Bitstream Charter"/>
              </a:rPr>
              <a:t>Full OpenRCA setup: 32 GB RAM, 80 GB storage. Subset needs measurement.</a:t>
            </a:r>
          </a:p>
        </p:txBody>
      </p:sp>
      <p:sp>
        <p:nvSpPr>
          <p:cNvPr id="8" name="">
            <a:extLst xmlns:a="http://schemas.openxmlformats.org/drawingml/2006/main">
              <a:ext uri="{FF2B5EF4-FFF2-40B4-BE49-F238E27FC236}">
                <a16:creationId xmlns:a16="http://schemas.microsoft.com/office/drawing/2014/main" id="{34607E76-8BC5-456C-9D41-65429789A9C5}"/>
              </a:ext>
            </a:extLst>
          </p:cNvPr>
          <p:cNvSpPr>
            <a:spLocks xmlns:a="http://schemas.openxmlformats.org/drawingml/2006/main" noGrp="1"/>
          </p:cNvSpPr>
          <p:nvPr/>
        </p:nvSpPr>
        <p:spPr>
          <a:xfrm xmlns:a="http://schemas.openxmlformats.org/drawingml/2006/main">
            <a:off x="609600" y="57340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2B3A"/>
                </a:solidFill>
                <a:latin typeface="Bitstream Charter"/>
                <a:ea typeface="Bitstream Charter"/>
                <a:cs typeface="Bitstream Charter"/>
              </a:defRPr>
            </a:pPr>
            <a:r>
              <a:rPr sz="2025" b="1">
                <a:solidFill>
                  <a:srgbClr val="172B3A"/>
                </a:solidFill>
                <a:latin typeface="Bitstream Charter"/>
                <a:ea typeface="Bitstream Charter"/>
                <a:cs typeface="Bitstream Charter"/>
              </a:rPr>
              <a:t>Pipeline role: follows detection and localization, then hands proposals to the risk gate</a:t>
            </a:r>
          </a:p>
        </p:txBody>
      </p:sp>
    </p:spTree>
    <p:extLst>
      <p:ext uri="{BB962C8B-B14F-4D97-AF65-F5344CB8AC3E}">
        <p14:creationId xmlns:p14="http://schemas.microsoft.com/office/powerpoint/2010/main" val="10392696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2026-09-10T06:20:51.5640000Z</dcterms:created>
  <dcterms:modified xsi:type="dcterms:W3CDTF">2026-09-10T06:20:51.5650000Z</dcterms:modified>
</coreProperties>
</file>