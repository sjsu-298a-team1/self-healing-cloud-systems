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dfdd2b5043b44b6" /><Relationship Type="http://schemas.openxmlformats.org/officeDocument/2006/relationships/extended-properties" Target="/docProps/app.xml" Id="Rc449a257c3e144f6" /><Relationship Type="http://schemas.openxmlformats.org/officeDocument/2006/relationships/officeDocument" Target="/ppt/presentation.xml" Id="Rb529452a0c5c4e29" /></Relationships>
</file>

<file path=ppt/presentation.xml><?xml version="1.0" encoding="utf-8"?>
<p:presentation xmlns:p="http://schemas.openxmlformats.org/presentationml/2006/main">
  <p:sldMasterIdLst>
    <p:sldMasterId xmlns:r="http://schemas.openxmlformats.org/officeDocument/2006/relationships" id="2147483648" r:id="Rf1a946252eca4d8a"/>
  </p:sldMasterIdLst>
  <p:notesMasterIdLst>
    <p:notesMasterId xmlns:r="http://schemas.openxmlformats.org/officeDocument/2006/relationships" r:id="R7c2365806bd64308"/>
  </p:notesMasterIdLst>
  <p:sldIdLst>
    <p:sldId xmlns:r="http://schemas.openxmlformats.org/officeDocument/2006/relationships" id="256" r:id="R77e6880dcb4e4aeb"/>
    <p:sldId xmlns:r="http://schemas.openxmlformats.org/officeDocument/2006/relationships" id="257" r:id="R1a77dd4ebbfb47f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e2901db007a4475" /><Relationship Type="http://schemas.openxmlformats.org/officeDocument/2006/relationships/slideMaster" Target="/ppt/slideMasters/slideMaster1.xml" Id="Rf1a946252eca4d8a" /><Relationship Type="http://schemas.openxmlformats.org/officeDocument/2006/relationships/notesMaster" Target="/ppt/notesMasters/notesMaster1.xml" Id="R7c2365806bd64308" /><Relationship Type="http://schemas.openxmlformats.org/officeDocument/2006/relationships/presProps" Target="/ppt/presProps.xml" Id="Ra4b301d613c64235" /><Relationship Type="http://schemas.openxmlformats.org/officeDocument/2006/relationships/tableStyles" Target="/ppt/tableStyles.xml" Id="R1fda63e9099d4988" /><Relationship Type="http://schemas.openxmlformats.org/officeDocument/2006/relationships/slide" Target="/ppt/slides/slide1.xml" Id="R77e6880dcb4e4aeb" /><Relationship Type="http://schemas.openxmlformats.org/officeDocument/2006/relationships/slide" Target="/ppt/slides/slide2.xml" Id="R1a77dd4ebbfb47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8556142f13482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97c1e79a294726" /><Relationship Type="http://schemas.openxmlformats.org/officeDocument/2006/relationships/notesMaster" Target="/ppt/notesMasters/notesMaster1.xml" Id="R8f2fb1641af54701" /></Relationships>
</file>

<file path=ppt/notesSlides/_rels/notesSlide2.xml.rels>&#65279;<?xml version="1.0" encoding="utf-8"?><Relationships xmlns="http://schemas.openxmlformats.org/package/2006/relationships"><Relationship Type="http://schemas.openxmlformats.org/officeDocument/2006/relationships/slide" Target="/ppt/slides/slide2.xml" Id="R82d1180321ce47a0" /><Relationship Type="http://schemas.openxmlformats.org/officeDocument/2006/relationships/notesMaster" Target="/ppt/notesMasters/notesMaster1.xml" Id="R89e1cfd1cd5e456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evaluated three possible environments and recommended OpenTelemetry Demo for our first prototype. It already includes a shopping application, a load generator, and the telemetry components we need. We will begin with Docker Compose because it is easier to reproduce than Kubernetes. For every experiment, we will activate one controlled fault and store its target service and timestamps separately. That record becomes our ground truth. We then check whether the fault appears in the metrics, logs, and traces before accepting the experiment. The main limitation is resource use, so our first runs will use short retention windows and reduced traffic.</a:t>
            </a:r>
          </a:p>
          <a:p xmlns:a="http://schemas.openxmlformats.org/drawingml/2006/main">
            <a:r>
              <a:t/>
            </a:r>
          </a:p>
          <a:p xmlns:a="http://schemas.openxmlformats.org/drawingml/2006/main">
            <a:r>
              <a:t>Sources: OpenTelemetry Demo documentation, https://opentelemetry.io/docs/demo/ ; environment evaluation in repository, docs/infra/environment-evaluation/README.md.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second part is root-cause localization. A single service failure can create errors in several upstream services. In this example, payment fails first, but checkout and frontend also become abnormal. The root-cause model uses the dependency graph and telemetry to rank payment as the original cause. We will measure Top-1 accuracy when the correct service is ranked first and Top-3 accuracy when it appears among the first three results. I reviewed MicroRCA, Eadro, and CausalRCA. MicroRCA is the most practical first candidate because it uses graph ranking and does not need neural training. Eadro is closer to our final multimodal design, but its released code and preprocessing are harder to reproduce. CausalRCA is useful for a later causal approach. Our current recommendation remains conditional: MicroRCA must pass a smoke test before the team selects it as the published baseline.</a:t>
            </a:r>
          </a:p>
          <a:p xmlns:a="http://schemas.openxmlformats.org/drawingml/2006/main">
            <a:r>
              <a:t/>
            </a:r>
          </a:p>
          <a:p xmlns:a="http://schemas.openxmlformats.org/drawingml/2006/main">
            <a:r>
              <a:t>Sources: Wu et al., MicroRCA, NOMS 2020, https://inria.hal.science/hal-02441640/document ; Lee et al., Eadro, ICSE 2023, https://arxiv.org/abs/2302.05092 ; Xin et al., CausalRCA, Journal of Systems and Software 2023, https://doi.org/10.1016/j.jss.2023.111724 ; literature review in repository, docs/literature/root-cause-localization/README.md.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b0f10f4f6a740a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1de0b7e9654ead" /><Relationship Type="http://schemas.openxmlformats.org/officeDocument/2006/relationships/slideLayout" Target="/ppt/slideLayouts/slideLayout1.xml" Id="Rb7b06aefa05249f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7b06aefa05249f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438abc2afdc42cc" /><Relationship Type="http://schemas.openxmlformats.org/officeDocument/2006/relationships/notesSlide" Target="/ppt/notesSlides/notesSlide1.xml" Id="Rd6d29d4b9e714d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236462b35e845f2" /><Relationship Type="http://schemas.openxmlformats.org/officeDocument/2006/relationships/notesSlide" Target="/ppt/notesSlides/notesSlide2.xml" Id="R4f8586b834a34ae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04F3A2AE-F594-4E8B-9580-5C8DA61CABB1}"/>
              </a:ext>
            </a:extLst>
          </p:cNvPr>
          <p:cNvSpPr>
            <a:spLocks xmlns:a="http://schemas.openxmlformats.org/drawingml/2006/main" noGrp="1"/>
          </p:cNvSpPr>
          <p:nvPr/>
        </p:nvSpPr>
        <p:spPr>
          <a:xfrm xmlns:a="http://schemas.openxmlformats.org/drawingml/2006/main">
            <a:off x="609600" y="3619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02A43"/>
                </a:solidFill>
                <a:latin typeface="Bitstream Charter"/>
                <a:ea typeface="Bitstream Charter"/>
                <a:cs typeface="Bitstream Charter"/>
              </a:defRPr>
            </a:pPr>
            <a:r>
              <a:rPr sz="2550" b="1">
                <a:solidFill>
                  <a:srgbClr val="102A43"/>
                </a:solidFill>
                <a:latin typeface="Bitstream Charter"/>
                <a:ea typeface="Bitstream Charter"/>
                <a:cs typeface="Bitstream Charter"/>
              </a:rPr>
              <a:t>Microservice environment and telemetry</a:t>
            </a:r>
          </a:p>
        </p:txBody>
      </p:sp>
      <p:sp>
        <p:nvSpPr>
          <p:cNvPr id="2" name="">
            <a:extLst xmlns:a="http://schemas.openxmlformats.org/drawingml/2006/main">
              <a:ext uri="{FF2B5EF4-FFF2-40B4-BE49-F238E27FC236}">
                <a16:creationId xmlns:a16="http://schemas.microsoft.com/office/drawing/2014/main" id="{B1AC289E-154B-48DE-9514-AA143D0FF35E}"/>
              </a:ext>
            </a:extLst>
          </p:cNvPr>
          <p:cNvSpPr>
            <a:spLocks xmlns:a="http://schemas.openxmlformats.org/drawingml/2006/main" noGrp="1"/>
          </p:cNvSpPr>
          <p:nvPr/>
        </p:nvSpPr>
        <p:spPr>
          <a:xfrm xmlns:a="http://schemas.openxmlformats.org/drawingml/2006/main">
            <a:off x="628650" y="86677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2606D"/>
                </a:solidFill>
                <a:latin typeface="Bitstream Charter"/>
                <a:ea typeface="Bitstream Charter"/>
                <a:cs typeface="Bitstream Charter"/>
              </a:defRPr>
            </a:pPr>
            <a:r>
              <a:rPr sz="1275" b="0">
                <a:solidFill>
                  <a:srgbClr val="52606D"/>
                </a:solidFill>
                <a:latin typeface="Bitstream Charter"/>
                <a:ea typeface="Bitstream Charter"/>
                <a:cs typeface="Bitstream Charter"/>
              </a:rPr>
              <a:t>OpenTelemetry Demo gives us a repeatable application, workload, telemetry, and known fault targets</a:t>
            </a:r>
          </a:p>
        </p:txBody>
      </p:sp>
      <p:sp>
        <p:nvSpPr>
          <p:cNvPr id="3" name="">
            <a:extLst xmlns:a="http://schemas.openxmlformats.org/drawingml/2006/main">
              <a:ext uri="{FF2B5EF4-FFF2-40B4-BE49-F238E27FC236}">
                <a16:creationId xmlns:a16="http://schemas.microsoft.com/office/drawing/2014/main" id="{7C8FD8F6-5782-4D95-886D-AAB5FABE0B63}"/>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138A8A"/>
          </a:solidFill>
          <a:ln xmlns:a="http://schemas.openxmlformats.org/drawingml/2006/main" w="0">
            <a:solidFill>
              <a:srgbClr val="138A8A"/>
            </a:solidFill>
          </a:ln>
        </p:spPr>
      </p:sp>
      <p:sp>
        <p:nvSpPr>
          <p:cNvPr id="4" name="">
            <a:extLst xmlns:a="http://schemas.openxmlformats.org/drawingml/2006/main">
              <a:ext uri="{FF2B5EF4-FFF2-40B4-BE49-F238E27FC236}">
                <a16:creationId xmlns:a16="http://schemas.microsoft.com/office/drawing/2014/main" id="{7324098F-18BA-4B78-8838-6FFF9C49E3AA}"/>
              </a:ext>
            </a:extLst>
          </p:cNvPr>
          <p:cNvSpPr>
            <a:spLocks xmlns:a="http://schemas.openxmlformats.org/drawingml/2006/main" noGrp="1"/>
          </p:cNvSpPr>
          <p:nvPr/>
        </p:nvSpPr>
        <p:spPr>
          <a:xfrm xmlns:a="http://schemas.openxmlformats.org/drawingml/2006/main">
            <a:off x="666750" y="1476375"/>
            <a:ext cx="714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138A8A"/>
                </a:solidFill>
                <a:latin typeface="Bitstream Charter"/>
                <a:ea typeface="Bitstream Charter"/>
                <a:cs typeface="Bitstream Charter"/>
              </a:defRPr>
            </a:pPr>
            <a:r>
              <a:rPr sz="1125" b="1">
                <a:solidFill>
                  <a:srgbClr val="138A8A"/>
                </a:solidFill>
                <a:latin typeface="Bitstream Charter"/>
                <a:ea typeface="Bitstream Charter"/>
                <a:cs typeface="Bitstream Charter"/>
              </a:rPr>
              <a:t>EXPERIMENT FLOW</a:t>
            </a:r>
          </a:p>
        </p:txBody>
      </p:sp>
      <p:sp>
        <p:nvSpPr>
          <p:cNvPr id="5" name="">
            <a:extLst xmlns:a="http://schemas.openxmlformats.org/drawingml/2006/main">
              <a:ext uri="{FF2B5EF4-FFF2-40B4-BE49-F238E27FC236}">
                <a16:creationId xmlns:a16="http://schemas.microsoft.com/office/drawing/2014/main" id="{7E0BEED7-2587-4E13-B902-13954B70E8EF}"/>
              </a:ext>
            </a:extLst>
          </p:cNvPr>
          <p:cNvSpPr>
            <a:spLocks xmlns:a="http://schemas.openxmlformats.org/drawingml/2006/main" noGrp="1"/>
          </p:cNvSpPr>
          <p:nvPr/>
        </p:nvSpPr>
        <p:spPr>
          <a:xfrm xmlns:a="http://schemas.openxmlformats.org/drawingml/2006/main">
            <a:off x="723900" y="1952625"/>
            <a:ext cx="1619250" cy="781050"/>
          </a:xfrm>
          <a:prstGeom xmlns:a="http://schemas.openxmlformats.org/drawingml/2006/main" prst="roundRect">
            <a:avLst>
              <a:gd name="adj" fmla="val 9756"/>
            </a:avLst>
          </a:prstGeom>
          <a:solidFill xmlns:a="http://schemas.openxmlformats.org/drawingml/2006/main">
            <a:srgbClr val="EFF6FA"/>
          </a:solidFill>
          <a:ln xmlns:a="http://schemas.openxmlformats.org/drawingml/2006/main" w="9525">
            <a:solidFill>
              <a:srgbClr val="1D70A2"/>
            </a:solidFill>
          </a:ln>
        </p:spPr>
      </p:sp>
      <p:sp>
        <p:nvSpPr>
          <p:cNvPr id="6" name="">
            <a:extLst xmlns:a="http://schemas.openxmlformats.org/drawingml/2006/main">
              <a:ext uri="{FF2B5EF4-FFF2-40B4-BE49-F238E27FC236}">
                <a16:creationId xmlns:a16="http://schemas.microsoft.com/office/drawing/2014/main" id="{80402FBE-E7BF-4109-B311-FB83B08859FB}"/>
              </a:ext>
            </a:extLst>
          </p:cNvPr>
          <p:cNvSpPr>
            <a:spLocks xmlns:a="http://schemas.openxmlformats.org/drawingml/2006/main" noGrp="1"/>
          </p:cNvSpPr>
          <p:nvPr/>
        </p:nvSpPr>
        <p:spPr>
          <a:xfrm xmlns:a="http://schemas.openxmlformats.org/drawingml/2006/main">
            <a:off x="866775" y="2152650"/>
            <a:ext cx="1333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650" b="1">
                <a:solidFill>
                  <a:srgbClr val="102A43"/>
                </a:solidFill>
                <a:latin typeface="Bitstream Charter"/>
                <a:ea typeface="Bitstream Charter"/>
                <a:cs typeface="Bitstream Charter"/>
              </a:defRPr>
            </a:pPr>
            <a:r>
              <a:rPr sz="1650" b="1">
                <a:solidFill>
                  <a:srgbClr val="102A43"/>
                </a:solidFill>
                <a:latin typeface="Bitstream Charter"/>
                <a:ea typeface="Bitstream Charter"/>
                <a:cs typeface="Bitstream Charter"/>
              </a:rPr>
              <a:t>Load generator</a:t>
            </a:r>
          </a:p>
        </p:txBody>
      </p:sp>
      <p:sp>
        <p:nvSpPr>
          <p:cNvPr id="7" name="">
            <a:extLst xmlns:a="http://schemas.openxmlformats.org/drawingml/2006/main">
              <a:ext uri="{FF2B5EF4-FFF2-40B4-BE49-F238E27FC236}">
                <a16:creationId xmlns:a16="http://schemas.microsoft.com/office/drawing/2014/main" id="{83008146-BF7C-4CE1-915B-918E83F8DBB5}"/>
              </a:ext>
            </a:extLst>
          </p:cNvPr>
          <p:cNvSpPr>
            <a:spLocks xmlns:a="http://schemas.openxmlformats.org/drawingml/2006/main" noGrp="1"/>
          </p:cNvSpPr>
          <p:nvPr/>
        </p:nvSpPr>
        <p:spPr>
          <a:xfrm xmlns:a="http://schemas.openxmlformats.org/drawingml/2006/main">
            <a:off x="2343150" y="2324100"/>
            <a:ext cx="457200" cy="38100"/>
          </a:xfrm>
          <a:prstGeom xmlns:a="http://schemas.openxmlformats.org/drawingml/2006/main" prst="rect">
            <a:avLst/>
          </a:prstGeom>
          <a:solidFill xmlns:a="http://schemas.openxmlformats.org/drawingml/2006/main">
            <a:srgbClr val="1D70A2"/>
          </a:solidFill>
          <a:ln xmlns:a="http://schemas.openxmlformats.org/drawingml/2006/main" w="0">
            <a:solidFill>
              <a:srgbClr val="1D70A2"/>
            </a:solidFill>
          </a:ln>
        </p:spPr>
      </p:sp>
      <p:sp>
        <p:nvSpPr>
          <p:cNvPr id="8" name="">
            <a:extLst xmlns:a="http://schemas.openxmlformats.org/drawingml/2006/main">
              <a:ext uri="{FF2B5EF4-FFF2-40B4-BE49-F238E27FC236}">
                <a16:creationId xmlns:a16="http://schemas.microsoft.com/office/drawing/2014/main" id="{3AD5EBBE-6739-486A-97BE-92C39E2DA1F9}"/>
              </a:ext>
            </a:extLst>
          </p:cNvPr>
          <p:cNvSpPr>
            <a:spLocks xmlns:a="http://schemas.openxmlformats.org/drawingml/2006/main" noGrp="1"/>
          </p:cNvSpPr>
          <p:nvPr/>
        </p:nvSpPr>
        <p:spPr>
          <a:xfrm xmlns:a="http://schemas.openxmlformats.org/drawingml/2006/main">
            <a:off x="2800350" y="1828800"/>
            <a:ext cx="2286000" cy="1028700"/>
          </a:xfrm>
          <a:prstGeom xmlns:a="http://schemas.openxmlformats.org/drawingml/2006/main" prst="roundRect">
            <a:avLst>
              <a:gd name="adj" fmla="val 7407"/>
            </a:avLst>
          </a:prstGeom>
          <a:solidFill xmlns:a="http://schemas.openxmlformats.org/drawingml/2006/main">
            <a:srgbClr val="DCEFF7"/>
          </a:solidFill>
          <a:ln xmlns:a="http://schemas.openxmlformats.org/drawingml/2006/main" w="9525">
            <a:solidFill>
              <a:srgbClr val="1D70A2"/>
            </a:solidFill>
          </a:ln>
        </p:spPr>
      </p:sp>
      <p:sp>
        <p:nvSpPr>
          <p:cNvPr id="9" name="">
            <a:extLst xmlns:a="http://schemas.openxmlformats.org/drawingml/2006/main">
              <a:ext uri="{FF2B5EF4-FFF2-40B4-BE49-F238E27FC236}">
                <a16:creationId xmlns:a16="http://schemas.microsoft.com/office/drawing/2014/main" id="{36B1ED29-B3DF-45AE-9DD2-B375E81A19CA}"/>
              </a:ext>
            </a:extLst>
          </p:cNvPr>
          <p:cNvSpPr>
            <a:spLocks xmlns:a="http://schemas.openxmlformats.org/drawingml/2006/main" noGrp="1"/>
          </p:cNvSpPr>
          <p:nvPr/>
        </p:nvSpPr>
        <p:spPr>
          <a:xfrm xmlns:a="http://schemas.openxmlformats.org/drawingml/2006/main">
            <a:off x="2990850" y="1924050"/>
            <a:ext cx="190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650" b="1">
                <a:solidFill>
                  <a:srgbClr val="102A43"/>
                </a:solidFill>
                <a:latin typeface="Bitstream Charter"/>
                <a:ea typeface="Bitstream Charter"/>
                <a:cs typeface="Bitstream Charter"/>
              </a:defRPr>
            </a:pPr>
            <a:r>
              <a:rPr sz="1650" b="1">
                <a:solidFill>
                  <a:srgbClr val="102A43"/>
                </a:solidFill>
                <a:latin typeface="Bitstream Charter"/>
                <a:ea typeface="Bitstream Charter"/>
                <a:cs typeface="Bitstream Charter"/>
              </a:rPr>
              <a:t>OpenTelemetry</a:t>
            </a:r>
          </a:p>
          <a:p xmlns:a="http://schemas.openxmlformats.org/drawingml/2006/main">
            <a:pPr algn="ctr">
              <a:defRPr sz="1650" b="1">
                <a:solidFill>
                  <a:srgbClr val="102A43"/>
                </a:solidFill>
                <a:latin typeface="Bitstream Charter"/>
                <a:ea typeface="Bitstream Charter"/>
                <a:cs typeface="Bitstream Charter"/>
              </a:defRPr>
            </a:pPr>
            <a:r>
              <a:rPr sz="1650" b="1">
                <a:solidFill>
                  <a:srgbClr val="102A43"/>
                </a:solidFill>
                <a:latin typeface="Bitstream Charter"/>
                <a:ea typeface="Bitstream Charter"/>
                <a:cs typeface="Bitstream Charter"/>
              </a:rPr>
              <a:t>Demo</a:t>
            </a:r>
          </a:p>
        </p:txBody>
      </p:sp>
      <p:sp>
        <p:nvSpPr>
          <p:cNvPr id="10" name="">
            <a:extLst xmlns:a="http://schemas.openxmlformats.org/drawingml/2006/main">
              <a:ext uri="{FF2B5EF4-FFF2-40B4-BE49-F238E27FC236}">
                <a16:creationId xmlns:a16="http://schemas.microsoft.com/office/drawing/2014/main" id="{12D67699-F963-4C43-97DF-2D91847BF819}"/>
              </a:ext>
            </a:extLst>
          </p:cNvPr>
          <p:cNvSpPr>
            <a:spLocks xmlns:a="http://schemas.openxmlformats.org/drawingml/2006/main" noGrp="1"/>
          </p:cNvSpPr>
          <p:nvPr/>
        </p:nvSpPr>
        <p:spPr>
          <a:xfrm xmlns:a="http://schemas.openxmlformats.org/drawingml/2006/main">
            <a:off x="3009900" y="2533650"/>
            <a:ext cx="1866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52606D"/>
                </a:solidFill>
                <a:latin typeface="Bitstream Charter"/>
                <a:ea typeface="Bitstream Charter"/>
                <a:cs typeface="Bitstream Charter"/>
              </a:defRPr>
            </a:pPr>
            <a:r>
              <a:rPr sz="1125" b="0">
                <a:solidFill>
                  <a:srgbClr val="52606D"/>
                </a:solidFill>
                <a:latin typeface="Bitstream Charter"/>
                <a:ea typeface="Bitstream Charter"/>
                <a:cs typeface="Bitstream Charter"/>
              </a:rPr>
              <a:t>Shopping microservices</a:t>
            </a:r>
          </a:p>
        </p:txBody>
      </p:sp>
      <p:sp>
        <p:nvSpPr>
          <p:cNvPr id="11" name="">
            <a:extLst xmlns:a="http://schemas.openxmlformats.org/drawingml/2006/main">
              <a:ext uri="{FF2B5EF4-FFF2-40B4-BE49-F238E27FC236}">
                <a16:creationId xmlns:a16="http://schemas.microsoft.com/office/drawing/2014/main" id="{9FE938B7-38FC-4626-990B-814B894D2953}"/>
              </a:ext>
            </a:extLst>
          </p:cNvPr>
          <p:cNvSpPr>
            <a:spLocks xmlns:a="http://schemas.openxmlformats.org/drawingml/2006/main" noGrp="1"/>
          </p:cNvSpPr>
          <p:nvPr/>
        </p:nvSpPr>
        <p:spPr>
          <a:xfrm xmlns:a="http://schemas.openxmlformats.org/drawingml/2006/main">
            <a:off x="5086350" y="2324100"/>
            <a:ext cx="457200" cy="38100"/>
          </a:xfrm>
          <a:prstGeom xmlns:a="http://schemas.openxmlformats.org/drawingml/2006/main" prst="rect">
            <a:avLst/>
          </a:prstGeom>
          <a:solidFill xmlns:a="http://schemas.openxmlformats.org/drawingml/2006/main">
            <a:srgbClr val="1D70A2"/>
          </a:solidFill>
          <a:ln xmlns:a="http://schemas.openxmlformats.org/drawingml/2006/main" w="0">
            <a:solidFill>
              <a:srgbClr val="1D70A2"/>
            </a:solidFill>
          </a:ln>
        </p:spPr>
      </p:sp>
      <p:sp>
        <p:nvSpPr>
          <p:cNvPr id="12" name="">
            <a:extLst xmlns:a="http://schemas.openxmlformats.org/drawingml/2006/main">
              <a:ext uri="{FF2B5EF4-FFF2-40B4-BE49-F238E27FC236}">
                <a16:creationId xmlns:a16="http://schemas.microsoft.com/office/drawing/2014/main" id="{6C0054A9-0140-4777-84DA-CD2151648424}"/>
              </a:ext>
            </a:extLst>
          </p:cNvPr>
          <p:cNvSpPr>
            <a:spLocks xmlns:a="http://schemas.openxmlformats.org/drawingml/2006/main" noGrp="1"/>
          </p:cNvSpPr>
          <p:nvPr/>
        </p:nvSpPr>
        <p:spPr>
          <a:xfrm xmlns:a="http://schemas.openxmlformats.org/drawingml/2006/main">
            <a:off x="5543550" y="1952625"/>
            <a:ext cx="1619250" cy="781050"/>
          </a:xfrm>
          <a:prstGeom xmlns:a="http://schemas.openxmlformats.org/drawingml/2006/main" prst="roundRect">
            <a:avLst>
              <a:gd name="adj" fmla="val 9756"/>
            </a:avLst>
          </a:prstGeom>
          <a:solidFill xmlns:a="http://schemas.openxmlformats.org/drawingml/2006/main">
            <a:srgbClr val="E5F5F2"/>
          </a:solidFill>
          <a:ln xmlns:a="http://schemas.openxmlformats.org/drawingml/2006/main" w="9525">
            <a:solidFill>
              <a:srgbClr val="138A8A"/>
            </a:solidFill>
          </a:ln>
        </p:spPr>
      </p:sp>
      <p:sp>
        <p:nvSpPr>
          <p:cNvPr id="13" name="">
            <a:extLst xmlns:a="http://schemas.openxmlformats.org/drawingml/2006/main">
              <a:ext uri="{FF2B5EF4-FFF2-40B4-BE49-F238E27FC236}">
                <a16:creationId xmlns:a16="http://schemas.microsoft.com/office/drawing/2014/main" id="{2D6FCA05-81CC-4D0E-A5BE-D11EF14C734C}"/>
              </a:ext>
            </a:extLst>
          </p:cNvPr>
          <p:cNvSpPr>
            <a:spLocks xmlns:a="http://schemas.openxmlformats.org/drawingml/2006/main" noGrp="1"/>
          </p:cNvSpPr>
          <p:nvPr/>
        </p:nvSpPr>
        <p:spPr>
          <a:xfrm xmlns:a="http://schemas.openxmlformats.org/drawingml/2006/main">
            <a:off x="5705475" y="2152650"/>
            <a:ext cx="129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650" b="1">
                <a:solidFill>
                  <a:srgbClr val="102A43"/>
                </a:solidFill>
                <a:latin typeface="Bitstream Charter"/>
                <a:ea typeface="Bitstream Charter"/>
                <a:cs typeface="Bitstream Charter"/>
              </a:defRPr>
            </a:pPr>
            <a:r>
              <a:rPr sz="1650" b="1">
                <a:solidFill>
                  <a:srgbClr val="102A43"/>
                </a:solidFill>
                <a:latin typeface="Bitstream Charter"/>
                <a:ea typeface="Bitstream Charter"/>
                <a:cs typeface="Bitstream Charter"/>
              </a:rPr>
              <a:t>OTel Collector</a:t>
            </a:r>
          </a:p>
        </p:txBody>
      </p:sp>
      <p:sp>
        <p:nvSpPr>
          <p:cNvPr id="14" name="">
            <a:extLst xmlns:a="http://schemas.openxmlformats.org/drawingml/2006/main">
              <a:ext uri="{FF2B5EF4-FFF2-40B4-BE49-F238E27FC236}">
                <a16:creationId xmlns:a16="http://schemas.microsoft.com/office/drawing/2014/main" id="{FA6D3833-C8D6-4534-97A5-3AE35FA9408A}"/>
              </a:ext>
            </a:extLst>
          </p:cNvPr>
          <p:cNvSpPr>
            <a:spLocks xmlns:a="http://schemas.openxmlformats.org/drawingml/2006/main" noGrp="1"/>
          </p:cNvSpPr>
          <p:nvPr/>
        </p:nvSpPr>
        <p:spPr>
          <a:xfrm xmlns:a="http://schemas.openxmlformats.org/drawingml/2006/main">
            <a:off x="6334125" y="2733675"/>
            <a:ext cx="38100" cy="466725"/>
          </a:xfrm>
          <a:prstGeom xmlns:a="http://schemas.openxmlformats.org/drawingml/2006/main" prst="rect">
            <a:avLst/>
          </a:prstGeom>
          <a:solidFill xmlns:a="http://schemas.openxmlformats.org/drawingml/2006/main">
            <a:srgbClr val="138A8A"/>
          </a:solidFill>
          <a:ln xmlns:a="http://schemas.openxmlformats.org/drawingml/2006/main" w="0">
            <a:solidFill>
              <a:srgbClr val="138A8A"/>
            </a:solidFill>
          </a:ln>
        </p:spPr>
      </p:sp>
      <p:sp>
        <p:nvSpPr>
          <p:cNvPr id="15" name="">
            <a:extLst xmlns:a="http://schemas.openxmlformats.org/drawingml/2006/main">
              <a:ext uri="{FF2B5EF4-FFF2-40B4-BE49-F238E27FC236}">
                <a16:creationId xmlns:a16="http://schemas.microsoft.com/office/drawing/2014/main" id="{60BDE446-42DF-4704-9731-6C54D0764CB0}"/>
              </a:ext>
            </a:extLst>
          </p:cNvPr>
          <p:cNvSpPr>
            <a:spLocks xmlns:a="http://schemas.openxmlformats.org/drawingml/2006/main" noGrp="1"/>
          </p:cNvSpPr>
          <p:nvPr/>
        </p:nvSpPr>
        <p:spPr>
          <a:xfrm xmlns:a="http://schemas.openxmlformats.org/drawingml/2006/main">
            <a:off x="4638675" y="3181350"/>
            <a:ext cx="3429000" cy="38100"/>
          </a:xfrm>
          <a:prstGeom xmlns:a="http://schemas.openxmlformats.org/drawingml/2006/main" prst="rect">
            <a:avLst/>
          </a:prstGeom>
          <a:solidFill xmlns:a="http://schemas.openxmlformats.org/drawingml/2006/main">
            <a:srgbClr val="138A8A"/>
          </a:solidFill>
          <a:ln xmlns:a="http://schemas.openxmlformats.org/drawingml/2006/main" w="0">
            <a:solidFill>
              <a:srgbClr val="138A8A"/>
            </a:solidFill>
          </a:ln>
        </p:spPr>
      </p:sp>
      <p:sp>
        <p:nvSpPr>
          <p:cNvPr id="16" name="">
            <a:extLst xmlns:a="http://schemas.openxmlformats.org/drawingml/2006/main">
              <a:ext uri="{FF2B5EF4-FFF2-40B4-BE49-F238E27FC236}">
                <a16:creationId xmlns:a16="http://schemas.microsoft.com/office/drawing/2014/main" id="{C8CA5D0E-9FD6-44AC-89C5-96A740104F9E}"/>
              </a:ext>
            </a:extLst>
          </p:cNvPr>
          <p:cNvSpPr>
            <a:spLocks xmlns:a="http://schemas.openxmlformats.org/drawingml/2006/main" noGrp="1"/>
          </p:cNvSpPr>
          <p:nvPr/>
        </p:nvSpPr>
        <p:spPr>
          <a:xfrm xmlns:a="http://schemas.openxmlformats.org/drawingml/2006/main">
            <a:off x="4638675" y="3181350"/>
            <a:ext cx="38100" cy="295275"/>
          </a:xfrm>
          <a:prstGeom xmlns:a="http://schemas.openxmlformats.org/drawingml/2006/main" prst="rect">
            <a:avLst/>
          </a:prstGeom>
          <a:solidFill xmlns:a="http://schemas.openxmlformats.org/drawingml/2006/main">
            <a:srgbClr val="138A8A"/>
          </a:solidFill>
          <a:ln xmlns:a="http://schemas.openxmlformats.org/drawingml/2006/main" w="0">
            <a:solidFill>
              <a:srgbClr val="138A8A"/>
            </a:solidFill>
          </a:ln>
        </p:spPr>
      </p:sp>
      <p:sp>
        <p:nvSpPr>
          <p:cNvPr id="17" name="">
            <a:extLst xmlns:a="http://schemas.openxmlformats.org/drawingml/2006/main">
              <a:ext uri="{FF2B5EF4-FFF2-40B4-BE49-F238E27FC236}">
                <a16:creationId xmlns:a16="http://schemas.microsoft.com/office/drawing/2014/main" id="{5BC0FD0D-8A16-4A2B-8C0E-D6078E384DD5}"/>
              </a:ext>
            </a:extLst>
          </p:cNvPr>
          <p:cNvSpPr>
            <a:spLocks xmlns:a="http://schemas.openxmlformats.org/drawingml/2006/main" noGrp="1"/>
          </p:cNvSpPr>
          <p:nvPr/>
        </p:nvSpPr>
        <p:spPr>
          <a:xfrm xmlns:a="http://schemas.openxmlformats.org/drawingml/2006/main">
            <a:off x="6334125" y="3181350"/>
            <a:ext cx="38100" cy="295275"/>
          </a:xfrm>
          <a:prstGeom xmlns:a="http://schemas.openxmlformats.org/drawingml/2006/main" prst="rect">
            <a:avLst/>
          </a:prstGeom>
          <a:solidFill xmlns:a="http://schemas.openxmlformats.org/drawingml/2006/main">
            <a:srgbClr val="138A8A"/>
          </a:solidFill>
          <a:ln xmlns:a="http://schemas.openxmlformats.org/drawingml/2006/main" w="0">
            <a:solidFill>
              <a:srgbClr val="138A8A"/>
            </a:solidFill>
          </a:ln>
        </p:spPr>
      </p:sp>
      <p:sp>
        <p:nvSpPr>
          <p:cNvPr id="18" name="">
            <a:extLst xmlns:a="http://schemas.openxmlformats.org/drawingml/2006/main">
              <a:ext uri="{FF2B5EF4-FFF2-40B4-BE49-F238E27FC236}">
                <a16:creationId xmlns:a16="http://schemas.microsoft.com/office/drawing/2014/main" id="{C6C27CAC-0711-424C-87E3-E4ABF4499AC3}"/>
              </a:ext>
            </a:extLst>
          </p:cNvPr>
          <p:cNvSpPr>
            <a:spLocks xmlns:a="http://schemas.openxmlformats.org/drawingml/2006/main" noGrp="1"/>
          </p:cNvSpPr>
          <p:nvPr/>
        </p:nvSpPr>
        <p:spPr>
          <a:xfrm xmlns:a="http://schemas.openxmlformats.org/drawingml/2006/main">
            <a:off x="8029575" y="3181350"/>
            <a:ext cx="38100" cy="295275"/>
          </a:xfrm>
          <a:prstGeom xmlns:a="http://schemas.openxmlformats.org/drawingml/2006/main" prst="rect">
            <a:avLst/>
          </a:prstGeom>
          <a:solidFill xmlns:a="http://schemas.openxmlformats.org/drawingml/2006/main">
            <a:srgbClr val="138A8A"/>
          </a:solidFill>
          <a:ln xmlns:a="http://schemas.openxmlformats.org/drawingml/2006/main" w="0">
            <a:solidFill>
              <a:srgbClr val="138A8A"/>
            </a:solidFill>
          </a:ln>
        </p:spPr>
      </p:sp>
      <p:sp>
        <p:nvSpPr>
          <p:cNvPr id="19" name="">
            <a:extLst xmlns:a="http://schemas.openxmlformats.org/drawingml/2006/main">
              <a:ext uri="{FF2B5EF4-FFF2-40B4-BE49-F238E27FC236}">
                <a16:creationId xmlns:a16="http://schemas.microsoft.com/office/drawing/2014/main" id="{B7809E55-39FC-4B8A-944D-3BFD52D128FB}"/>
              </a:ext>
            </a:extLst>
          </p:cNvPr>
          <p:cNvSpPr>
            <a:spLocks xmlns:a="http://schemas.openxmlformats.org/drawingml/2006/main" noGrp="1"/>
          </p:cNvSpPr>
          <p:nvPr/>
        </p:nvSpPr>
        <p:spPr>
          <a:xfrm xmlns:a="http://schemas.openxmlformats.org/drawingml/2006/main">
            <a:off x="3981450" y="3476625"/>
            <a:ext cx="1352550" cy="742950"/>
          </a:xfrm>
          <a:prstGeom xmlns:a="http://schemas.openxmlformats.org/drawingml/2006/main" prst="roundRect">
            <a:avLst>
              <a:gd name="adj" fmla="val 10256"/>
            </a:avLst>
          </a:prstGeom>
          <a:solidFill xmlns:a="http://schemas.openxmlformats.org/drawingml/2006/main">
            <a:srgbClr val="F7FAFC"/>
          </a:solidFill>
          <a:ln xmlns:a="http://schemas.openxmlformats.org/drawingml/2006/main" w="9525">
            <a:solidFill>
              <a:srgbClr val="CBD5E1"/>
            </a:solidFill>
          </a:ln>
        </p:spPr>
      </p:sp>
      <p:sp>
        <p:nvSpPr>
          <p:cNvPr id="20" name="">
            <a:extLst xmlns:a="http://schemas.openxmlformats.org/drawingml/2006/main">
              <a:ext uri="{FF2B5EF4-FFF2-40B4-BE49-F238E27FC236}">
                <a16:creationId xmlns:a16="http://schemas.microsoft.com/office/drawing/2014/main" id="{03F2C90B-2345-45E5-9FB4-F085B966776B}"/>
              </a:ext>
            </a:extLst>
          </p:cNvPr>
          <p:cNvSpPr>
            <a:spLocks xmlns:a="http://schemas.openxmlformats.org/drawingml/2006/main" noGrp="1"/>
          </p:cNvSpPr>
          <p:nvPr/>
        </p:nvSpPr>
        <p:spPr>
          <a:xfrm xmlns:a="http://schemas.openxmlformats.org/drawingml/2006/main">
            <a:off x="4171950" y="3619500"/>
            <a:ext cx="971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75" b="1">
                <a:solidFill>
                  <a:srgbClr val="102A43"/>
                </a:solidFill>
                <a:latin typeface="Bitstream Charter"/>
                <a:ea typeface="Bitstream Charter"/>
                <a:cs typeface="Bitstream Charter"/>
              </a:defRPr>
            </a:pPr>
            <a:r>
              <a:rPr sz="1575" b="1">
                <a:solidFill>
                  <a:srgbClr val="102A43"/>
                </a:solidFill>
                <a:latin typeface="Bitstream Charter"/>
                <a:ea typeface="Bitstream Charter"/>
                <a:cs typeface="Bitstream Charter"/>
              </a:rPr>
              <a:t>Metrics</a:t>
            </a:r>
          </a:p>
        </p:txBody>
      </p:sp>
      <p:sp>
        <p:nvSpPr>
          <p:cNvPr id="21" name="">
            <a:extLst xmlns:a="http://schemas.openxmlformats.org/drawingml/2006/main">
              <a:ext uri="{FF2B5EF4-FFF2-40B4-BE49-F238E27FC236}">
                <a16:creationId xmlns:a16="http://schemas.microsoft.com/office/drawing/2014/main" id="{FE66510B-D5C2-470C-A3E2-7640A290DE8C}"/>
              </a:ext>
            </a:extLst>
          </p:cNvPr>
          <p:cNvSpPr>
            <a:spLocks xmlns:a="http://schemas.openxmlformats.org/drawingml/2006/main" noGrp="1"/>
          </p:cNvSpPr>
          <p:nvPr/>
        </p:nvSpPr>
        <p:spPr>
          <a:xfrm xmlns:a="http://schemas.openxmlformats.org/drawingml/2006/main">
            <a:off x="4171950" y="3924300"/>
            <a:ext cx="971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52606D"/>
                </a:solidFill>
                <a:latin typeface="Bitstream Charter"/>
                <a:ea typeface="Bitstream Charter"/>
                <a:cs typeface="Bitstream Charter"/>
              </a:defRPr>
            </a:pPr>
            <a:r>
              <a:rPr sz="1125" b="0">
                <a:solidFill>
                  <a:srgbClr val="52606D"/>
                </a:solidFill>
                <a:latin typeface="Bitstream Charter"/>
                <a:ea typeface="Bitstream Charter"/>
                <a:cs typeface="Bitstream Charter"/>
              </a:rPr>
              <a:t>Prometheus</a:t>
            </a:r>
          </a:p>
        </p:txBody>
      </p:sp>
      <p:sp>
        <p:nvSpPr>
          <p:cNvPr id="22" name="">
            <a:extLst xmlns:a="http://schemas.openxmlformats.org/drawingml/2006/main">
              <a:ext uri="{FF2B5EF4-FFF2-40B4-BE49-F238E27FC236}">
                <a16:creationId xmlns:a16="http://schemas.microsoft.com/office/drawing/2014/main" id="{AADED261-7404-49FE-B96C-4F576E109B5A}"/>
              </a:ext>
            </a:extLst>
          </p:cNvPr>
          <p:cNvSpPr>
            <a:spLocks xmlns:a="http://schemas.openxmlformats.org/drawingml/2006/main" noGrp="1"/>
          </p:cNvSpPr>
          <p:nvPr/>
        </p:nvSpPr>
        <p:spPr>
          <a:xfrm xmlns:a="http://schemas.openxmlformats.org/drawingml/2006/main">
            <a:off x="5676900" y="3476625"/>
            <a:ext cx="1352550" cy="742950"/>
          </a:xfrm>
          <a:prstGeom xmlns:a="http://schemas.openxmlformats.org/drawingml/2006/main" prst="roundRect">
            <a:avLst>
              <a:gd name="adj" fmla="val 10256"/>
            </a:avLst>
          </a:prstGeom>
          <a:solidFill xmlns:a="http://schemas.openxmlformats.org/drawingml/2006/main">
            <a:srgbClr val="F7FAFC"/>
          </a:solidFill>
          <a:ln xmlns:a="http://schemas.openxmlformats.org/drawingml/2006/main" w="9525">
            <a:solidFill>
              <a:srgbClr val="CBD5E1"/>
            </a:solidFill>
          </a:ln>
        </p:spPr>
      </p:sp>
      <p:sp>
        <p:nvSpPr>
          <p:cNvPr id="23" name="">
            <a:extLst xmlns:a="http://schemas.openxmlformats.org/drawingml/2006/main">
              <a:ext uri="{FF2B5EF4-FFF2-40B4-BE49-F238E27FC236}">
                <a16:creationId xmlns:a16="http://schemas.microsoft.com/office/drawing/2014/main" id="{36240CBB-D6CB-4A54-AF37-BD1ACA0396FD}"/>
              </a:ext>
            </a:extLst>
          </p:cNvPr>
          <p:cNvSpPr>
            <a:spLocks xmlns:a="http://schemas.openxmlformats.org/drawingml/2006/main" noGrp="1"/>
          </p:cNvSpPr>
          <p:nvPr/>
        </p:nvSpPr>
        <p:spPr>
          <a:xfrm xmlns:a="http://schemas.openxmlformats.org/drawingml/2006/main">
            <a:off x="5867400" y="3619500"/>
            <a:ext cx="971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75" b="1">
                <a:solidFill>
                  <a:srgbClr val="102A43"/>
                </a:solidFill>
                <a:latin typeface="Bitstream Charter"/>
                <a:ea typeface="Bitstream Charter"/>
                <a:cs typeface="Bitstream Charter"/>
              </a:defRPr>
            </a:pPr>
            <a:r>
              <a:rPr sz="1575" b="1">
                <a:solidFill>
                  <a:srgbClr val="102A43"/>
                </a:solidFill>
                <a:latin typeface="Bitstream Charter"/>
                <a:ea typeface="Bitstream Charter"/>
                <a:cs typeface="Bitstream Charter"/>
              </a:rPr>
              <a:t>Logs</a:t>
            </a:r>
          </a:p>
        </p:txBody>
      </p:sp>
      <p:sp>
        <p:nvSpPr>
          <p:cNvPr id="24" name="">
            <a:extLst xmlns:a="http://schemas.openxmlformats.org/drawingml/2006/main">
              <a:ext uri="{FF2B5EF4-FFF2-40B4-BE49-F238E27FC236}">
                <a16:creationId xmlns:a16="http://schemas.microsoft.com/office/drawing/2014/main" id="{0209B22D-4CC2-487A-874C-5C7BAD32150A}"/>
              </a:ext>
            </a:extLst>
          </p:cNvPr>
          <p:cNvSpPr>
            <a:spLocks xmlns:a="http://schemas.openxmlformats.org/drawingml/2006/main" noGrp="1"/>
          </p:cNvSpPr>
          <p:nvPr/>
        </p:nvSpPr>
        <p:spPr>
          <a:xfrm xmlns:a="http://schemas.openxmlformats.org/drawingml/2006/main">
            <a:off x="5867400" y="3924300"/>
            <a:ext cx="971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52606D"/>
                </a:solidFill>
                <a:latin typeface="Bitstream Charter"/>
                <a:ea typeface="Bitstream Charter"/>
                <a:cs typeface="Bitstream Charter"/>
              </a:defRPr>
            </a:pPr>
            <a:r>
              <a:rPr sz="1125" b="0">
                <a:solidFill>
                  <a:srgbClr val="52606D"/>
                </a:solidFill>
                <a:latin typeface="Bitstream Charter"/>
                <a:ea typeface="Bitstream Charter"/>
                <a:cs typeface="Bitstream Charter"/>
              </a:rPr>
              <a:t>OpenSearch</a:t>
            </a:r>
          </a:p>
        </p:txBody>
      </p:sp>
      <p:sp>
        <p:nvSpPr>
          <p:cNvPr id="25" name="">
            <a:extLst xmlns:a="http://schemas.openxmlformats.org/drawingml/2006/main">
              <a:ext uri="{FF2B5EF4-FFF2-40B4-BE49-F238E27FC236}">
                <a16:creationId xmlns:a16="http://schemas.microsoft.com/office/drawing/2014/main" id="{C52B1EDD-1A98-4840-99EA-28DBA53CF4F9}"/>
              </a:ext>
            </a:extLst>
          </p:cNvPr>
          <p:cNvSpPr>
            <a:spLocks xmlns:a="http://schemas.openxmlformats.org/drawingml/2006/main" noGrp="1"/>
          </p:cNvSpPr>
          <p:nvPr/>
        </p:nvSpPr>
        <p:spPr>
          <a:xfrm xmlns:a="http://schemas.openxmlformats.org/drawingml/2006/main">
            <a:off x="7372350" y="3476625"/>
            <a:ext cx="1352550" cy="742950"/>
          </a:xfrm>
          <a:prstGeom xmlns:a="http://schemas.openxmlformats.org/drawingml/2006/main" prst="roundRect">
            <a:avLst>
              <a:gd name="adj" fmla="val 10256"/>
            </a:avLst>
          </a:prstGeom>
          <a:solidFill xmlns:a="http://schemas.openxmlformats.org/drawingml/2006/main">
            <a:srgbClr val="F7FAFC"/>
          </a:solidFill>
          <a:ln xmlns:a="http://schemas.openxmlformats.org/drawingml/2006/main" w="9525">
            <a:solidFill>
              <a:srgbClr val="CBD5E1"/>
            </a:solidFill>
          </a:ln>
        </p:spPr>
      </p:sp>
      <p:sp>
        <p:nvSpPr>
          <p:cNvPr id="26" name="">
            <a:extLst xmlns:a="http://schemas.openxmlformats.org/drawingml/2006/main">
              <a:ext uri="{FF2B5EF4-FFF2-40B4-BE49-F238E27FC236}">
                <a16:creationId xmlns:a16="http://schemas.microsoft.com/office/drawing/2014/main" id="{CF36678A-04DE-4B5C-80A0-E66BBF975F62}"/>
              </a:ext>
            </a:extLst>
          </p:cNvPr>
          <p:cNvSpPr>
            <a:spLocks xmlns:a="http://schemas.openxmlformats.org/drawingml/2006/main" noGrp="1"/>
          </p:cNvSpPr>
          <p:nvPr/>
        </p:nvSpPr>
        <p:spPr>
          <a:xfrm xmlns:a="http://schemas.openxmlformats.org/drawingml/2006/main">
            <a:off x="7562850" y="3619500"/>
            <a:ext cx="971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75" b="1">
                <a:solidFill>
                  <a:srgbClr val="102A43"/>
                </a:solidFill>
                <a:latin typeface="Bitstream Charter"/>
                <a:ea typeface="Bitstream Charter"/>
                <a:cs typeface="Bitstream Charter"/>
              </a:defRPr>
            </a:pPr>
            <a:r>
              <a:rPr sz="1575" b="1">
                <a:solidFill>
                  <a:srgbClr val="102A43"/>
                </a:solidFill>
                <a:latin typeface="Bitstream Charter"/>
                <a:ea typeface="Bitstream Charter"/>
                <a:cs typeface="Bitstream Charter"/>
              </a:rPr>
              <a:t>Traces</a:t>
            </a:r>
          </a:p>
        </p:txBody>
      </p:sp>
      <p:sp>
        <p:nvSpPr>
          <p:cNvPr id="27" name="">
            <a:extLst xmlns:a="http://schemas.openxmlformats.org/drawingml/2006/main">
              <a:ext uri="{FF2B5EF4-FFF2-40B4-BE49-F238E27FC236}">
                <a16:creationId xmlns:a16="http://schemas.microsoft.com/office/drawing/2014/main" id="{37D68390-2146-4690-9B11-BE230651558A}"/>
              </a:ext>
            </a:extLst>
          </p:cNvPr>
          <p:cNvSpPr>
            <a:spLocks xmlns:a="http://schemas.openxmlformats.org/drawingml/2006/main" noGrp="1"/>
          </p:cNvSpPr>
          <p:nvPr/>
        </p:nvSpPr>
        <p:spPr>
          <a:xfrm xmlns:a="http://schemas.openxmlformats.org/drawingml/2006/main">
            <a:off x="7562850" y="3924300"/>
            <a:ext cx="971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52606D"/>
                </a:solidFill>
                <a:latin typeface="Bitstream Charter"/>
                <a:ea typeface="Bitstream Charter"/>
                <a:cs typeface="Bitstream Charter"/>
              </a:defRPr>
            </a:pPr>
            <a:r>
              <a:rPr sz="1125" b="0">
                <a:solidFill>
                  <a:srgbClr val="52606D"/>
                </a:solidFill>
                <a:latin typeface="Bitstream Charter"/>
                <a:ea typeface="Bitstream Charter"/>
                <a:cs typeface="Bitstream Charter"/>
              </a:rPr>
              <a:t>Jaeger</a:t>
            </a:r>
          </a:p>
        </p:txBody>
      </p:sp>
      <p:sp>
        <p:nvSpPr>
          <p:cNvPr id="28" name="">
            <a:extLst xmlns:a="http://schemas.openxmlformats.org/drawingml/2006/main">
              <a:ext uri="{FF2B5EF4-FFF2-40B4-BE49-F238E27FC236}">
                <a16:creationId xmlns:a16="http://schemas.microsoft.com/office/drawing/2014/main" id="{90674271-75FF-407E-96EB-C9298CEB8A61}"/>
              </a:ext>
            </a:extLst>
          </p:cNvPr>
          <p:cNvSpPr>
            <a:spLocks xmlns:a="http://schemas.openxmlformats.org/drawingml/2006/main" noGrp="1"/>
          </p:cNvSpPr>
          <p:nvPr/>
        </p:nvSpPr>
        <p:spPr>
          <a:xfrm xmlns:a="http://schemas.openxmlformats.org/drawingml/2006/main">
            <a:off x="714375" y="3362325"/>
            <a:ext cx="2381250" cy="857250"/>
          </a:xfrm>
          <a:prstGeom xmlns:a="http://schemas.openxmlformats.org/drawingml/2006/main" prst="roundRect">
            <a:avLst>
              <a:gd name="adj" fmla="val 8889"/>
            </a:avLst>
          </a:prstGeom>
          <a:solidFill xmlns:a="http://schemas.openxmlformats.org/drawingml/2006/main">
            <a:srgbClr val="FFF1E8"/>
          </a:solidFill>
          <a:ln xmlns:a="http://schemas.openxmlformats.org/drawingml/2006/main" w="9525">
            <a:solidFill>
              <a:srgbClr val="E87931"/>
            </a:solidFill>
          </a:ln>
        </p:spPr>
      </p:sp>
      <p:sp>
        <p:nvSpPr>
          <p:cNvPr id="29" name="">
            <a:extLst xmlns:a="http://schemas.openxmlformats.org/drawingml/2006/main">
              <a:ext uri="{FF2B5EF4-FFF2-40B4-BE49-F238E27FC236}">
                <a16:creationId xmlns:a16="http://schemas.microsoft.com/office/drawing/2014/main" id="{B599E44C-339C-4A45-8DAC-A8E217C48DEC}"/>
              </a:ext>
            </a:extLst>
          </p:cNvPr>
          <p:cNvSpPr>
            <a:spLocks xmlns:a="http://schemas.openxmlformats.org/drawingml/2006/main" noGrp="1"/>
          </p:cNvSpPr>
          <p:nvPr/>
        </p:nvSpPr>
        <p:spPr>
          <a:xfrm xmlns:a="http://schemas.openxmlformats.org/drawingml/2006/main">
            <a:off x="895350" y="3524250"/>
            <a:ext cx="2019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75" b="1">
                <a:solidFill>
                  <a:srgbClr val="102A43"/>
                </a:solidFill>
                <a:latin typeface="Bitstream Charter"/>
                <a:ea typeface="Bitstream Charter"/>
                <a:cs typeface="Bitstream Charter"/>
              </a:defRPr>
            </a:pPr>
            <a:r>
              <a:rPr sz="1575" b="1">
                <a:solidFill>
                  <a:srgbClr val="102A43"/>
                </a:solidFill>
                <a:latin typeface="Bitstream Charter"/>
                <a:ea typeface="Bitstream Charter"/>
                <a:cs typeface="Bitstream Charter"/>
              </a:rPr>
              <a:t>Controlled fault</a:t>
            </a:r>
          </a:p>
        </p:txBody>
      </p:sp>
      <p:sp>
        <p:nvSpPr>
          <p:cNvPr id="30" name="">
            <a:extLst xmlns:a="http://schemas.openxmlformats.org/drawingml/2006/main">
              <a:ext uri="{FF2B5EF4-FFF2-40B4-BE49-F238E27FC236}">
                <a16:creationId xmlns:a16="http://schemas.microsoft.com/office/drawing/2014/main" id="{FA808903-BED1-452F-815F-91461F45CB80}"/>
              </a:ext>
            </a:extLst>
          </p:cNvPr>
          <p:cNvSpPr>
            <a:spLocks xmlns:a="http://schemas.openxmlformats.org/drawingml/2006/main" noGrp="1"/>
          </p:cNvSpPr>
          <p:nvPr/>
        </p:nvSpPr>
        <p:spPr>
          <a:xfrm xmlns:a="http://schemas.openxmlformats.org/drawingml/2006/main">
            <a:off x="876300" y="3876675"/>
            <a:ext cx="2057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52606D"/>
                </a:solidFill>
                <a:latin typeface="Bitstream Charter"/>
                <a:ea typeface="Bitstream Charter"/>
                <a:cs typeface="Bitstream Charter"/>
              </a:defRPr>
            </a:pPr>
            <a:r>
              <a:rPr sz="1125" b="0">
                <a:solidFill>
                  <a:srgbClr val="52606D"/>
                </a:solidFill>
                <a:latin typeface="Bitstream Charter"/>
                <a:ea typeface="Bitstream Charter"/>
                <a:cs typeface="Bitstream Charter"/>
              </a:rPr>
              <a:t>CPU, memory, latency, crash</a:t>
            </a:r>
          </a:p>
        </p:txBody>
      </p:sp>
      <p:sp>
        <p:nvSpPr>
          <p:cNvPr id="31" name="">
            <a:extLst xmlns:a="http://schemas.openxmlformats.org/drawingml/2006/main">
              <a:ext uri="{FF2B5EF4-FFF2-40B4-BE49-F238E27FC236}">
                <a16:creationId xmlns:a16="http://schemas.microsoft.com/office/drawing/2014/main" id="{7C15310C-18D0-444C-9423-6EE9A4618D01}"/>
              </a:ext>
            </a:extLst>
          </p:cNvPr>
          <p:cNvSpPr>
            <a:spLocks xmlns:a="http://schemas.openxmlformats.org/drawingml/2006/main" noGrp="1"/>
          </p:cNvSpPr>
          <p:nvPr/>
        </p:nvSpPr>
        <p:spPr>
          <a:xfrm xmlns:a="http://schemas.openxmlformats.org/drawingml/2006/main">
            <a:off x="1885950" y="2733675"/>
            <a:ext cx="38100" cy="628650"/>
          </a:xfrm>
          <a:prstGeom xmlns:a="http://schemas.openxmlformats.org/drawingml/2006/main" prst="rect">
            <a:avLst/>
          </a:prstGeom>
          <a:solidFill xmlns:a="http://schemas.openxmlformats.org/drawingml/2006/main">
            <a:srgbClr val="E87931"/>
          </a:solidFill>
          <a:ln xmlns:a="http://schemas.openxmlformats.org/drawingml/2006/main" w="0">
            <a:solidFill>
              <a:srgbClr val="E87931"/>
            </a:solidFill>
          </a:ln>
        </p:spPr>
      </p:sp>
      <p:sp>
        <p:nvSpPr>
          <p:cNvPr id="32" name="">
            <a:extLst xmlns:a="http://schemas.openxmlformats.org/drawingml/2006/main">
              <a:ext uri="{FF2B5EF4-FFF2-40B4-BE49-F238E27FC236}">
                <a16:creationId xmlns:a16="http://schemas.microsoft.com/office/drawing/2014/main" id="{14DED34E-7AF0-441C-BDDF-538B806F640E}"/>
              </a:ext>
            </a:extLst>
          </p:cNvPr>
          <p:cNvSpPr>
            <a:spLocks xmlns:a="http://schemas.openxmlformats.org/drawingml/2006/main" noGrp="1"/>
          </p:cNvSpPr>
          <p:nvPr/>
        </p:nvSpPr>
        <p:spPr>
          <a:xfrm xmlns:a="http://schemas.openxmlformats.org/drawingml/2006/main">
            <a:off x="9124950" y="1562100"/>
            <a:ext cx="2400300" cy="2857500"/>
          </a:xfrm>
          <a:prstGeom xmlns:a="http://schemas.openxmlformats.org/drawingml/2006/main" prst="roundRect">
            <a:avLst>
              <a:gd name="adj" fmla="val 3175"/>
            </a:avLst>
          </a:prstGeom>
          <a:solidFill xmlns:a="http://schemas.openxmlformats.org/drawingml/2006/main">
            <a:srgbClr val="F7FAFC"/>
          </a:solidFill>
          <a:ln xmlns:a="http://schemas.openxmlformats.org/drawingml/2006/main" w="9525">
            <a:solidFill>
              <a:srgbClr val="CBD5E1"/>
            </a:solidFill>
          </a:ln>
        </p:spPr>
      </p:sp>
      <p:sp>
        <p:nvSpPr>
          <p:cNvPr id="33" name="">
            <a:extLst xmlns:a="http://schemas.openxmlformats.org/drawingml/2006/main">
              <a:ext uri="{FF2B5EF4-FFF2-40B4-BE49-F238E27FC236}">
                <a16:creationId xmlns:a16="http://schemas.microsoft.com/office/drawing/2014/main" id="{A8547C81-7B39-4340-9D89-7DD61CE6AC1B}"/>
              </a:ext>
            </a:extLst>
          </p:cNvPr>
          <p:cNvSpPr>
            <a:spLocks xmlns:a="http://schemas.openxmlformats.org/drawingml/2006/main" noGrp="1"/>
          </p:cNvSpPr>
          <p:nvPr/>
        </p:nvSpPr>
        <p:spPr>
          <a:xfrm xmlns:a="http://schemas.openxmlformats.org/drawingml/2006/main">
            <a:off x="9353550" y="1781175"/>
            <a:ext cx="1943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02A43"/>
                </a:solidFill>
                <a:latin typeface="Bitstream Charter"/>
                <a:ea typeface="Bitstream Charter"/>
                <a:cs typeface="Bitstream Charter"/>
              </a:defRPr>
            </a:pPr>
            <a:r>
              <a:rPr sz="1800" b="1">
                <a:solidFill>
                  <a:srgbClr val="102A43"/>
                </a:solidFill>
                <a:latin typeface="Bitstream Charter"/>
                <a:ea typeface="Bitstream Charter"/>
                <a:cs typeface="Bitstream Charter"/>
              </a:rPr>
              <a:t>Ground-truth record</a:t>
            </a:r>
          </a:p>
        </p:txBody>
      </p:sp>
      <p:sp>
        <p:nvSpPr>
          <p:cNvPr id="34" name="">
            <a:extLst xmlns:a="http://schemas.openxmlformats.org/drawingml/2006/main">
              <a:ext uri="{FF2B5EF4-FFF2-40B4-BE49-F238E27FC236}">
                <a16:creationId xmlns:a16="http://schemas.microsoft.com/office/drawing/2014/main" id="{205F078F-1CAA-43A2-A894-69FB4197B42C}"/>
              </a:ext>
            </a:extLst>
          </p:cNvPr>
          <p:cNvSpPr>
            <a:spLocks xmlns:a="http://schemas.openxmlformats.org/drawingml/2006/main" noGrp="1"/>
          </p:cNvSpPr>
          <p:nvPr/>
        </p:nvSpPr>
        <p:spPr>
          <a:xfrm xmlns:a="http://schemas.openxmlformats.org/drawingml/2006/main">
            <a:off x="9353550" y="2343150"/>
            <a:ext cx="1809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138A8A"/>
                </a:solidFill>
                <a:latin typeface="Bitstream Charter"/>
                <a:ea typeface="Bitstream Charter"/>
                <a:cs typeface="Bitstream Charter"/>
              </a:defRPr>
            </a:pPr>
            <a:r>
              <a:rPr sz="1275" b="1">
                <a:solidFill>
                  <a:srgbClr val="138A8A"/>
                </a:solidFill>
                <a:latin typeface="Bitstream Charter"/>
                <a:ea typeface="Bitstream Charter"/>
                <a:cs typeface="Bitstream Charter"/>
              </a:rPr>
              <a:t>Experiment ID</a:t>
            </a:r>
          </a:p>
        </p:txBody>
      </p:sp>
      <p:sp>
        <p:nvSpPr>
          <p:cNvPr id="35" name="">
            <a:extLst xmlns:a="http://schemas.openxmlformats.org/drawingml/2006/main">
              <a:ext uri="{FF2B5EF4-FFF2-40B4-BE49-F238E27FC236}">
                <a16:creationId xmlns:a16="http://schemas.microsoft.com/office/drawing/2014/main" id="{36C5EC24-40E5-405C-99F5-5586EA056AEB}"/>
              </a:ext>
            </a:extLst>
          </p:cNvPr>
          <p:cNvSpPr>
            <a:spLocks xmlns:a="http://schemas.openxmlformats.org/drawingml/2006/main" noGrp="1"/>
          </p:cNvSpPr>
          <p:nvPr/>
        </p:nvSpPr>
        <p:spPr>
          <a:xfrm xmlns:a="http://schemas.openxmlformats.org/drawingml/2006/main">
            <a:off x="9353550" y="2714625"/>
            <a:ext cx="1866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2606D"/>
                </a:solidFill>
                <a:latin typeface="Bitstream Charter"/>
                <a:ea typeface="Bitstream Charter"/>
                <a:cs typeface="Bitstream Charter"/>
              </a:defRPr>
            </a:pPr>
            <a:r>
              <a:rPr sz="1275" b="0">
                <a:solidFill>
                  <a:srgbClr val="52606D"/>
                </a:solidFill>
                <a:latin typeface="Bitstream Charter"/>
                <a:ea typeface="Bitstream Charter"/>
                <a:cs typeface="Bitstream Charter"/>
              </a:rPr>
              <a:t>Fault type and target service</a:t>
            </a:r>
          </a:p>
        </p:txBody>
      </p:sp>
      <p:sp>
        <p:nvSpPr>
          <p:cNvPr id="36" name="">
            <a:extLst xmlns:a="http://schemas.openxmlformats.org/drawingml/2006/main">
              <a:ext uri="{FF2B5EF4-FFF2-40B4-BE49-F238E27FC236}">
                <a16:creationId xmlns:a16="http://schemas.microsoft.com/office/drawing/2014/main" id="{18821BC5-02A7-4074-B2C2-5129095D4B00}"/>
              </a:ext>
            </a:extLst>
          </p:cNvPr>
          <p:cNvSpPr>
            <a:spLocks xmlns:a="http://schemas.openxmlformats.org/drawingml/2006/main" noGrp="1"/>
          </p:cNvSpPr>
          <p:nvPr/>
        </p:nvSpPr>
        <p:spPr>
          <a:xfrm xmlns:a="http://schemas.openxmlformats.org/drawingml/2006/main">
            <a:off x="9353550" y="3257550"/>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2606D"/>
                </a:solidFill>
                <a:latin typeface="Bitstream Charter"/>
                <a:ea typeface="Bitstream Charter"/>
                <a:cs typeface="Bitstream Charter"/>
              </a:defRPr>
            </a:pPr>
            <a:r>
              <a:rPr sz="1275" b="0">
                <a:solidFill>
                  <a:srgbClr val="52606D"/>
                </a:solidFill>
                <a:latin typeface="Bitstream Charter"/>
                <a:ea typeface="Bitstream Charter"/>
                <a:cs typeface="Bitstream Charter"/>
              </a:rPr>
              <a:t>Start and stop timestamps</a:t>
            </a:r>
          </a:p>
        </p:txBody>
      </p:sp>
      <p:sp>
        <p:nvSpPr>
          <p:cNvPr id="37" name="">
            <a:extLst xmlns:a="http://schemas.openxmlformats.org/drawingml/2006/main">
              <a:ext uri="{FF2B5EF4-FFF2-40B4-BE49-F238E27FC236}">
                <a16:creationId xmlns:a16="http://schemas.microsoft.com/office/drawing/2014/main" id="{EBF44777-EA96-4323-AA67-5FF490724430}"/>
              </a:ext>
            </a:extLst>
          </p:cNvPr>
          <p:cNvSpPr>
            <a:spLocks xmlns:a="http://schemas.openxmlformats.org/drawingml/2006/main" noGrp="1"/>
          </p:cNvSpPr>
          <p:nvPr/>
        </p:nvSpPr>
        <p:spPr>
          <a:xfrm xmlns:a="http://schemas.openxmlformats.org/drawingml/2006/main">
            <a:off x="9353550" y="3714750"/>
            <a:ext cx="1866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2606D"/>
                </a:solidFill>
                <a:latin typeface="Bitstream Charter"/>
                <a:ea typeface="Bitstream Charter"/>
                <a:cs typeface="Bitstream Charter"/>
              </a:defRPr>
            </a:pPr>
            <a:r>
              <a:rPr sz="1275" b="0">
                <a:solidFill>
                  <a:srgbClr val="52606D"/>
                </a:solidFill>
                <a:latin typeface="Bitstream Charter"/>
                <a:ea typeface="Bitstream Charter"/>
                <a:cs typeface="Bitstream Charter"/>
              </a:rPr>
              <a:t>Demo version and configuration</a:t>
            </a:r>
          </a:p>
        </p:txBody>
      </p:sp>
      <p:sp>
        <p:nvSpPr>
          <p:cNvPr id="38" name="">
            <a:extLst xmlns:a="http://schemas.openxmlformats.org/drawingml/2006/main">
              <a:ext uri="{FF2B5EF4-FFF2-40B4-BE49-F238E27FC236}">
                <a16:creationId xmlns:a16="http://schemas.microsoft.com/office/drawing/2014/main" id="{B9CF7F79-0FA9-4B40-B3DC-4EE5B9E04536}"/>
              </a:ext>
            </a:extLst>
          </p:cNvPr>
          <p:cNvSpPr>
            <a:spLocks xmlns:a="http://schemas.openxmlformats.org/drawingml/2006/main" noGrp="1"/>
          </p:cNvSpPr>
          <p:nvPr/>
        </p:nvSpPr>
        <p:spPr>
          <a:xfrm xmlns:a="http://schemas.openxmlformats.org/drawingml/2006/main">
            <a:off x="704850" y="4752975"/>
            <a:ext cx="10820400" cy="1381125"/>
          </a:xfrm>
          <a:prstGeom xmlns:a="http://schemas.openxmlformats.org/drawingml/2006/main" prst="rect">
            <a:avLst/>
          </a:prstGeom>
          <a:solidFill xmlns:a="http://schemas.openxmlformats.org/drawingml/2006/main">
            <a:srgbClr val="F8FBFD"/>
          </a:solidFill>
          <a:ln xmlns:a="http://schemas.openxmlformats.org/drawingml/2006/main" w="9525">
            <a:solidFill>
              <a:srgbClr val="CBD5E1"/>
            </a:solidFill>
          </a:ln>
        </p:spPr>
      </p:sp>
      <p:sp>
        <p:nvSpPr>
          <p:cNvPr id="39" name="">
            <a:extLst xmlns:a="http://schemas.openxmlformats.org/drawingml/2006/main">
              <a:ext uri="{FF2B5EF4-FFF2-40B4-BE49-F238E27FC236}">
                <a16:creationId xmlns:a16="http://schemas.microsoft.com/office/drawing/2014/main" id="{D0E09283-82A0-4370-80CC-010E456102B5}"/>
              </a:ext>
            </a:extLst>
          </p:cNvPr>
          <p:cNvSpPr>
            <a:spLocks xmlns:a="http://schemas.openxmlformats.org/drawingml/2006/main" noGrp="1"/>
          </p:cNvSpPr>
          <p:nvPr/>
        </p:nvSpPr>
        <p:spPr>
          <a:xfrm xmlns:a="http://schemas.openxmlformats.org/drawingml/2006/main">
            <a:off x="942975" y="49530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102A43"/>
                </a:solidFill>
                <a:latin typeface="Bitstream Charter"/>
                <a:ea typeface="Bitstream Charter"/>
                <a:cs typeface="Bitstream Charter"/>
              </a:defRPr>
            </a:pPr>
            <a:r>
              <a:rPr sz="1725" b="1">
                <a:solidFill>
                  <a:srgbClr val="102A43"/>
                </a:solidFill>
                <a:latin typeface="Bitstream Charter"/>
                <a:ea typeface="Bitstream Charter"/>
                <a:cs typeface="Bitstream Charter"/>
              </a:rPr>
              <a:t>Why this setup fits the project</a:t>
            </a:r>
          </a:p>
        </p:txBody>
      </p:sp>
      <p:sp>
        <p:nvSpPr>
          <p:cNvPr id="40" name="">
            <a:extLst xmlns:a="http://schemas.openxmlformats.org/drawingml/2006/main">
              <a:ext uri="{FF2B5EF4-FFF2-40B4-BE49-F238E27FC236}">
                <a16:creationId xmlns:a16="http://schemas.microsoft.com/office/drawing/2014/main" id="{B12D64D3-7DC5-4367-AE66-750A83EE1A14}"/>
              </a:ext>
            </a:extLst>
          </p:cNvPr>
          <p:cNvSpPr>
            <a:spLocks xmlns:a="http://schemas.openxmlformats.org/drawingml/2006/main" noGrp="1"/>
          </p:cNvSpPr>
          <p:nvPr/>
        </p:nvSpPr>
        <p:spPr>
          <a:xfrm xmlns:a="http://schemas.openxmlformats.org/drawingml/2006/main">
            <a:off x="942975" y="5362575"/>
            <a:ext cx="681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2606D"/>
                </a:solidFill>
                <a:latin typeface="Bitstream Charter"/>
                <a:ea typeface="Bitstream Charter"/>
                <a:cs typeface="Bitstream Charter"/>
              </a:defRPr>
            </a:pPr>
            <a:r>
              <a:rPr sz="1425" b="0">
                <a:solidFill>
                  <a:srgbClr val="52606D"/>
                </a:solidFill>
                <a:latin typeface="Bitstream Charter"/>
                <a:ea typeface="Bitstream Charter"/>
                <a:cs typeface="Bitstream Charter"/>
              </a:rPr>
              <a:t>A known injected fault gives the correct service label. The same run produces metrics, logs, traces, and service calls for detection and root-cause evaluation.</a:t>
            </a:r>
          </a:p>
        </p:txBody>
      </p:sp>
      <p:sp>
        <p:nvSpPr>
          <p:cNvPr id="41" name="">
            <a:extLst xmlns:a="http://schemas.openxmlformats.org/drawingml/2006/main">
              <a:ext uri="{FF2B5EF4-FFF2-40B4-BE49-F238E27FC236}">
                <a16:creationId xmlns:a16="http://schemas.microsoft.com/office/drawing/2014/main" id="{203F7B74-55C4-4999-B42E-9FF1A2C09E20}"/>
              </a:ext>
            </a:extLst>
          </p:cNvPr>
          <p:cNvSpPr>
            <a:spLocks xmlns:a="http://schemas.openxmlformats.org/drawingml/2006/main" noGrp="1"/>
          </p:cNvSpPr>
          <p:nvPr/>
        </p:nvSpPr>
        <p:spPr>
          <a:xfrm xmlns:a="http://schemas.openxmlformats.org/drawingml/2006/main">
            <a:off x="8420100" y="495300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C94845"/>
                </a:solidFill>
                <a:latin typeface="Bitstream Charter"/>
                <a:ea typeface="Bitstream Charter"/>
                <a:cs typeface="Bitstream Charter"/>
              </a:defRPr>
            </a:pPr>
            <a:r>
              <a:rPr sz="1425" b="1">
                <a:solidFill>
                  <a:srgbClr val="C94845"/>
                </a:solidFill>
                <a:latin typeface="Bitstream Charter"/>
                <a:ea typeface="Bitstream Charter"/>
                <a:cs typeface="Bitstream Charter"/>
              </a:rPr>
              <a:t>Current limit</a:t>
            </a:r>
          </a:p>
        </p:txBody>
      </p:sp>
      <p:sp>
        <p:nvSpPr>
          <p:cNvPr id="42" name="">
            <a:extLst xmlns:a="http://schemas.openxmlformats.org/drawingml/2006/main">
              <a:ext uri="{FF2B5EF4-FFF2-40B4-BE49-F238E27FC236}">
                <a16:creationId xmlns:a16="http://schemas.microsoft.com/office/drawing/2014/main" id="{809C39D3-CC1E-451D-8A33-171690AF5ABB}"/>
              </a:ext>
            </a:extLst>
          </p:cNvPr>
          <p:cNvSpPr>
            <a:spLocks xmlns:a="http://schemas.openxmlformats.org/drawingml/2006/main" noGrp="1"/>
          </p:cNvSpPr>
          <p:nvPr/>
        </p:nvSpPr>
        <p:spPr>
          <a:xfrm xmlns:a="http://schemas.openxmlformats.org/drawingml/2006/main">
            <a:off x="8420100" y="5305425"/>
            <a:ext cx="266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2606D"/>
                </a:solidFill>
                <a:latin typeface="Bitstream Charter"/>
                <a:ea typeface="Bitstream Charter"/>
                <a:cs typeface="Bitstream Charter"/>
              </a:defRPr>
            </a:pPr>
            <a:r>
              <a:rPr sz="1275" b="0">
                <a:solidFill>
                  <a:srgbClr val="52606D"/>
                </a:solidFill>
                <a:latin typeface="Bitstream Charter"/>
                <a:ea typeface="Bitstream Charter"/>
                <a:cs typeface="Bitstream Charter"/>
              </a:rPr>
              <a:t>Full observability may require 16 GiB RAM. We begin with Docker Compose and short experiments.</a:t>
            </a:r>
          </a:p>
        </p:txBody>
      </p:sp>
    </p:spTree>
    <p:extLst>
      <p:ext uri="{BB962C8B-B14F-4D97-AF65-F5344CB8AC3E}">
        <p14:creationId xmlns:p14="http://schemas.microsoft.com/office/powerpoint/2010/main" val="47225462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26016535-4C87-471E-ADC2-781C89214E4D}"/>
              </a:ext>
            </a:extLst>
          </p:cNvPr>
          <p:cNvSpPr>
            <a:spLocks xmlns:a="http://schemas.openxmlformats.org/drawingml/2006/main" noGrp="1"/>
          </p:cNvSpPr>
          <p:nvPr/>
        </p:nvSpPr>
        <p:spPr>
          <a:xfrm xmlns:a="http://schemas.openxmlformats.org/drawingml/2006/main">
            <a:off x="609600" y="3619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02A43"/>
                </a:solidFill>
                <a:latin typeface="Bitstream Charter"/>
                <a:ea typeface="Bitstream Charter"/>
                <a:cs typeface="Bitstream Charter"/>
              </a:defRPr>
            </a:pPr>
            <a:r>
              <a:rPr sz="2550" b="1">
                <a:solidFill>
                  <a:srgbClr val="102A43"/>
                </a:solidFill>
                <a:latin typeface="Bitstream Charter"/>
                <a:ea typeface="Bitstream Charter"/>
                <a:cs typeface="Bitstream Charter"/>
              </a:rPr>
              <a:t>Service-graph root-cause localization</a:t>
            </a:r>
          </a:p>
        </p:txBody>
      </p:sp>
      <p:sp>
        <p:nvSpPr>
          <p:cNvPr id="2" name="">
            <a:extLst xmlns:a="http://schemas.openxmlformats.org/drawingml/2006/main">
              <a:ext uri="{FF2B5EF4-FFF2-40B4-BE49-F238E27FC236}">
                <a16:creationId xmlns:a16="http://schemas.microsoft.com/office/drawing/2014/main" id="{A2EC3561-A489-4885-9155-6BB8F6B8F289}"/>
              </a:ext>
            </a:extLst>
          </p:cNvPr>
          <p:cNvSpPr>
            <a:spLocks xmlns:a="http://schemas.openxmlformats.org/drawingml/2006/main" noGrp="1"/>
          </p:cNvSpPr>
          <p:nvPr/>
        </p:nvSpPr>
        <p:spPr>
          <a:xfrm xmlns:a="http://schemas.openxmlformats.org/drawingml/2006/main">
            <a:off x="628650" y="86677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2606D"/>
                </a:solidFill>
                <a:latin typeface="Bitstream Charter"/>
                <a:ea typeface="Bitstream Charter"/>
                <a:cs typeface="Bitstream Charter"/>
              </a:defRPr>
            </a:pPr>
            <a:r>
              <a:rPr sz="1275" b="0">
                <a:solidFill>
                  <a:srgbClr val="52606D"/>
                </a:solidFill>
                <a:latin typeface="Bitstream Charter"/>
                <a:ea typeface="Bitstream Charter"/>
                <a:cs typeface="Bitstream Charter"/>
              </a:rPr>
              <a:t>The model follows abnormal behavior through service dependencies and ranks the most likely originating service</a:t>
            </a:r>
          </a:p>
        </p:txBody>
      </p:sp>
      <p:sp>
        <p:nvSpPr>
          <p:cNvPr id="3" name="">
            <a:extLst xmlns:a="http://schemas.openxmlformats.org/drawingml/2006/main">
              <a:ext uri="{FF2B5EF4-FFF2-40B4-BE49-F238E27FC236}">
                <a16:creationId xmlns:a16="http://schemas.microsoft.com/office/drawing/2014/main" id="{D5A0B2E2-A5F6-46CB-B423-2C8745482F71}"/>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138A8A"/>
          </a:solidFill>
          <a:ln xmlns:a="http://schemas.openxmlformats.org/drawingml/2006/main" w="0">
            <a:solidFill>
              <a:srgbClr val="138A8A"/>
            </a:solidFill>
          </a:ln>
        </p:spPr>
      </p:sp>
      <p:sp>
        <p:nvSpPr>
          <p:cNvPr id="4" name="">
            <a:extLst xmlns:a="http://schemas.openxmlformats.org/drawingml/2006/main">
              <a:ext uri="{FF2B5EF4-FFF2-40B4-BE49-F238E27FC236}">
                <a16:creationId xmlns:a16="http://schemas.microsoft.com/office/drawing/2014/main" id="{AB412209-A78E-4B22-AA53-52B67750E324}"/>
              </a:ext>
            </a:extLst>
          </p:cNvPr>
          <p:cNvSpPr>
            <a:spLocks xmlns:a="http://schemas.openxmlformats.org/drawingml/2006/main" noGrp="1"/>
          </p:cNvSpPr>
          <p:nvPr/>
        </p:nvSpPr>
        <p:spPr>
          <a:xfrm xmlns:a="http://schemas.openxmlformats.org/drawingml/2006/main">
            <a:off x="666750" y="1476375"/>
            <a:ext cx="538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138A8A"/>
                </a:solidFill>
                <a:latin typeface="Bitstream Charter"/>
                <a:ea typeface="Bitstream Charter"/>
                <a:cs typeface="Bitstream Charter"/>
              </a:defRPr>
            </a:pPr>
            <a:r>
              <a:rPr sz="1125" b="1">
                <a:solidFill>
                  <a:srgbClr val="138A8A"/>
                </a:solidFill>
                <a:latin typeface="Bitstream Charter"/>
                <a:ea typeface="Bitstream Charter"/>
                <a:cs typeface="Bitstream Charter"/>
              </a:rPr>
              <a:t>INCIDENT EXAMPLE</a:t>
            </a:r>
          </a:p>
        </p:txBody>
      </p:sp>
      <p:sp>
        <p:nvSpPr>
          <p:cNvPr id="5" name="">
            <a:extLst xmlns:a="http://schemas.openxmlformats.org/drawingml/2006/main">
              <a:ext uri="{FF2B5EF4-FFF2-40B4-BE49-F238E27FC236}">
                <a16:creationId xmlns:a16="http://schemas.microsoft.com/office/drawing/2014/main" id="{C343BE29-6EDA-4BAB-8F3D-1A8DDF89A2B9}"/>
              </a:ext>
            </a:extLst>
          </p:cNvPr>
          <p:cNvSpPr>
            <a:spLocks xmlns:a="http://schemas.openxmlformats.org/drawingml/2006/main" noGrp="1"/>
          </p:cNvSpPr>
          <p:nvPr/>
        </p:nvSpPr>
        <p:spPr>
          <a:xfrm xmlns:a="http://schemas.openxmlformats.org/drawingml/2006/main">
            <a:off x="723900" y="2047875"/>
            <a:ext cx="1381125" cy="666750"/>
          </a:xfrm>
          <a:prstGeom xmlns:a="http://schemas.openxmlformats.org/drawingml/2006/main" prst="roundRect">
            <a:avLst>
              <a:gd name="adj" fmla="val 11429"/>
            </a:avLst>
          </a:prstGeom>
          <a:solidFill xmlns:a="http://schemas.openxmlformats.org/drawingml/2006/main">
            <a:srgbClr val="EFF6FA"/>
          </a:solidFill>
          <a:ln xmlns:a="http://schemas.openxmlformats.org/drawingml/2006/main" w="9525">
            <a:solidFill>
              <a:srgbClr val="1D70A2"/>
            </a:solidFill>
          </a:ln>
        </p:spPr>
      </p:sp>
      <p:sp>
        <p:nvSpPr>
          <p:cNvPr id="6" name="">
            <a:extLst xmlns:a="http://schemas.openxmlformats.org/drawingml/2006/main">
              <a:ext uri="{FF2B5EF4-FFF2-40B4-BE49-F238E27FC236}">
                <a16:creationId xmlns:a16="http://schemas.microsoft.com/office/drawing/2014/main" id="{B023A2CE-4EE0-4FBB-AC91-F3C558A6F23E}"/>
              </a:ext>
            </a:extLst>
          </p:cNvPr>
          <p:cNvSpPr>
            <a:spLocks xmlns:a="http://schemas.openxmlformats.org/drawingml/2006/main" noGrp="1"/>
          </p:cNvSpPr>
          <p:nvPr/>
        </p:nvSpPr>
        <p:spPr>
          <a:xfrm xmlns:a="http://schemas.openxmlformats.org/drawingml/2006/main">
            <a:off x="838200" y="2238375"/>
            <a:ext cx="1152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350" b="1">
                <a:solidFill>
                  <a:srgbClr val="102A43"/>
                </a:solidFill>
                <a:latin typeface="Bitstream Charter"/>
                <a:ea typeface="Bitstream Charter"/>
                <a:cs typeface="Bitstream Charter"/>
              </a:defRPr>
            </a:pPr>
            <a:r>
              <a:rPr sz="1350" b="1">
                <a:solidFill>
                  <a:srgbClr val="102A43"/>
                </a:solidFill>
                <a:latin typeface="Bitstream Charter"/>
                <a:ea typeface="Bitstream Charter"/>
                <a:cs typeface="Bitstream Charter"/>
              </a:rPr>
              <a:t>Frontend</a:t>
            </a:r>
          </a:p>
        </p:txBody>
      </p:sp>
      <p:sp>
        <p:nvSpPr>
          <p:cNvPr id="7" name="">
            <a:extLst xmlns:a="http://schemas.openxmlformats.org/drawingml/2006/main">
              <a:ext uri="{FF2B5EF4-FFF2-40B4-BE49-F238E27FC236}">
                <a16:creationId xmlns:a16="http://schemas.microsoft.com/office/drawing/2014/main" id="{0BBBACF8-9FB2-485A-AEDF-0A52EBE76D8B}"/>
              </a:ext>
            </a:extLst>
          </p:cNvPr>
          <p:cNvSpPr>
            <a:spLocks xmlns:a="http://schemas.openxmlformats.org/drawingml/2006/main" noGrp="1"/>
          </p:cNvSpPr>
          <p:nvPr/>
        </p:nvSpPr>
        <p:spPr>
          <a:xfrm xmlns:a="http://schemas.openxmlformats.org/drawingml/2006/main">
            <a:off x="2105025" y="2352675"/>
            <a:ext cx="428625" cy="38100"/>
          </a:xfrm>
          <a:prstGeom xmlns:a="http://schemas.openxmlformats.org/drawingml/2006/main" prst="rect">
            <a:avLst/>
          </a:prstGeom>
          <a:solidFill xmlns:a="http://schemas.openxmlformats.org/drawingml/2006/main">
            <a:srgbClr val="1D70A2"/>
          </a:solidFill>
          <a:ln xmlns:a="http://schemas.openxmlformats.org/drawingml/2006/main" w="0">
            <a:solidFill>
              <a:srgbClr val="1D70A2"/>
            </a:solidFill>
          </a:ln>
        </p:spPr>
      </p:sp>
      <p:sp>
        <p:nvSpPr>
          <p:cNvPr id="8" name="">
            <a:extLst xmlns:a="http://schemas.openxmlformats.org/drawingml/2006/main">
              <a:ext uri="{FF2B5EF4-FFF2-40B4-BE49-F238E27FC236}">
                <a16:creationId xmlns:a16="http://schemas.microsoft.com/office/drawing/2014/main" id="{2171A921-B921-49A6-B6F1-A824255DD8A0}"/>
              </a:ext>
            </a:extLst>
          </p:cNvPr>
          <p:cNvSpPr>
            <a:spLocks xmlns:a="http://schemas.openxmlformats.org/drawingml/2006/main" noGrp="1"/>
          </p:cNvSpPr>
          <p:nvPr/>
        </p:nvSpPr>
        <p:spPr>
          <a:xfrm xmlns:a="http://schemas.openxmlformats.org/drawingml/2006/main">
            <a:off x="2533650" y="2047875"/>
            <a:ext cx="1381125" cy="666750"/>
          </a:xfrm>
          <a:prstGeom xmlns:a="http://schemas.openxmlformats.org/drawingml/2006/main" prst="roundRect">
            <a:avLst>
              <a:gd name="adj" fmla="val 11429"/>
            </a:avLst>
          </a:prstGeom>
          <a:solidFill xmlns:a="http://schemas.openxmlformats.org/drawingml/2006/main">
            <a:srgbClr val="EFF6FA"/>
          </a:solidFill>
          <a:ln xmlns:a="http://schemas.openxmlformats.org/drawingml/2006/main" w="9525">
            <a:solidFill>
              <a:srgbClr val="1D70A2"/>
            </a:solidFill>
          </a:ln>
        </p:spPr>
      </p:sp>
      <p:sp>
        <p:nvSpPr>
          <p:cNvPr id="9" name="">
            <a:extLst xmlns:a="http://schemas.openxmlformats.org/drawingml/2006/main">
              <a:ext uri="{FF2B5EF4-FFF2-40B4-BE49-F238E27FC236}">
                <a16:creationId xmlns:a16="http://schemas.microsoft.com/office/drawing/2014/main" id="{678CD5EA-8852-4934-B78E-9539A2D912C9}"/>
              </a:ext>
            </a:extLst>
          </p:cNvPr>
          <p:cNvSpPr>
            <a:spLocks xmlns:a="http://schemas.openxmlformats.org/drawingml/2006/main" noGrp="1"/>
          </p:cNvSpPr>
          <p:nvPr/>
        </p:nvSpPr>
        <p:spPr>
          <a:xfrm xmlns:a="http://schemas.openxmlformats.org/drawingml/2006/main">
            <a:off x="2647950" y="2238375"/>
            <a:ext cx="1152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350" b="1">
                <a:solidFill>
                  <a:srgbClr val="102A43"/>
                </a:solidFill>
                <a:latin typeface="Bitstream Charter"/>
                <a:ea typeface="Bitstream Charter"/>
                <a:cs typeface="Bitstream Charter"/>
              </a:defRPr>
            </a:pPr>
            <a:r>
              <a:rPr sz="1350" b="1">
                <a:solidFill>
                  <a:srgbClr val="102A43"/>
                </a:solidFill>
                <a:latin typeface="Bitstream Charter"/>
                <a:ea typeface="Bitstream Charter"/>
                <a:cs typeface="Bitstream Charter"/>
              </a:rPr>
              <a:t>Checkout</a:t>
            </a:r>
          </a:p>
        </p:txBody>
      </p:sp>
      <p:sp>
        <p:nvSpPr>
          <p:cNvPr id="10" name="">
            <a:extLst xmlns:a="http://schemas.openxmlformats.org/drawingml/2006/main">
              <a:ext uri="{FF2B5EF4-FFF2-40B4-BE49-F238E27FC236}">
                <a16:creationId xmlns:a16="http://schemas.microsoft.com/office/drawing/2014/main" id="{857A1C01-418B-4B35-8A1E-AA021B55ABF7}"/>
              </a:ext>
            </a:extLst>
          </p:cNvPr>
          <p:cNvSpPr>
            <a:spLocks xmlns:a="http://schemas.openxmlformats.org/drawingml/2006/main" noGrp="1"/>
          </p:cNvSpPr>
          <p:nvPr/>
        </p:nvSpPr>
        <p:spPr>
          <a:xfrm xmlns:a="http://schemas.openxmlformats.org/drawingml/2006/main">
            <a:off x="3914775" y="2352675"/>
            <a:ext cx="428625" cy="38100"/>
          </a:xfrm>
          <a:prstGeom xmlns:a="http://schemas.openxmlformats.org/drawingml/2006/main" prst="rect">
            <a:avLst/>
          </a:prstGeom>
          <a:solidFill xmlns:a="http://schemas.openxmlformats.org/drawingml/2006/main">
            <a:srgbClr val="C94845"/>
          </a:solidFill>
          <a:ln xmlns:a="http://schemas.openxmlformats.org/drawingml/2006/main" w="0">
            <a:solidFill>
              <a:srgbClr val="C94845"/>
            </a:solidFill>
          </a:ln>
        </p:spPr>
      </p:sp>
      <p:sp>
        <p:nvSpPr>
          <p:cNvPr id="11" name="">
            <a:extLst xmlns:a="http://schemas.openxmlformats.org/drawingml/2006/main">
              <a:ext uri="{FF2B5EF4-FFF2-40B4-BE49-F238E27FC236}">
                <a16:creationId xmlns:a16="http://schemas.microsoft.com/office/drawing/2014/main" id="{7C4C22CB-7B0A-4DC1-A78D-6B400731E434}"/>
              </a:ext>
            </a:extLst>
          </p:cNvPr>
          <p:cNvSpPr>
            <a:spLocks xmlns:a="http://schemas.openxmlformats.org/drawingml/2006/main" noGrp="1"/>
          </p:cNvSpPr>
          <p:nvPr/>
        </p:nvSpPr>
        <p:spPr>
          <a:xfrm xmlns:a="http://schemas.openxmlformats.org/drawingml/2006/main">
            <a:off x="4343400" y="1952625"/>
            <a:ext cx="1562100" cy="857250"/>
          </a:xfrm>
          <a:prstGeom xmlns:a="http://schemas.openxmlformats.org/drawingml/2006/main" prst="roundRect">
            <a:avLst>
              <a:gd name="adj" fmla="val 8889"/>
            </a:avLst>
          </a:prstGeom>
          <a:solidFill xmlns:a="http://schemas.openxmlformats.org/drawingml/2006/main">
            <a:srgbClr val="FDE8E7"/>
          </a:solidFill>
          <a:ln xmlns:a="http://schemas.openxmlformats.org/drawingml/2006/main" w="9525">
            <a:solidFill>
              <a:srgbClr val="C94845"/>
            </a:solidFill>
          </a:ln>
        </p:spPr>
      </p:sp>
      <p:sp>
        <p:nvSpPr>
          <p:cNvPr id="12" name="">
            <a:extLst xmlns:a="http://schemas.openxmlformats.org/drawingml/2006/main">
              <a:ext uri="{FF2B5EF4-FFF2-40B4-BE49-F238E27FC236}">
                <a16:creationId xmlns:a16="http://schemas.microsoft.com/office/drawing/2014/main" id="{BFA211CC-BA55-4DDE-9BC2-3B14BD638738}"/>
              </a:ext>
            </a:extLst>
          </p:cNvPr>
          <p:cNvSpPr>
            <a:spLocks xmlns:a="http://schemas.openxmlformats.org/drawingml/2006/main" noGrp="1"/>
          </p:cNvSpPr>
          <p:nvPr/>
        </p:nvSpPr>
        <p:spPr>
          <a:xfrm xmlns:a="http://schemas.openxmlformats.org/drawingml/2006/main">
            <a:off x="4552950" y="213360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650" b="1">
                <a:solidFill>
                  <a:srgbClr val="C94845"/>
                </a:solidFill>
                <a:latin typeface="Bitstream Charter"/>
                <a:ea typeface="Bitstream Charter"/>
                <a:cs typeface="Bitstream Charter"/>
              </a:defRPr>
            </a:pPr>
            <a:r>
              <a:rPr sz="1650" b="1">
                <a:solidFill>
                  <a:srgbClr val="C94845"/>
                </a:solidFill>
                <a:latin typeface="Bitstream Charter"/>
                <a:ea typeface="Bitstream Charter"/>
                <a:cs typeface="Bitstream Charter"/>
              </a:rPr>
              <a:t>Payment</a:t>
            </a:r>
          </a:p>
        </p:txBody>
      </p:sp>
      <p:sp>
        <p:nvSpPr>
          <p:cNvPr id="13" name="">
            <a:extLst xmlns:a="http://schemas.openxmlformats.org/drawingml/2006/main">
              <a:ext uri="{FF2B5EF4-FFF2-40B4-BE49-F238E27FC236}">
                <a16:creationId xmlns:a16="http://schemas.microsoft.com/office/drawing/2014/main" id="{D5DAA735-72D5-4083-B97B-DC2E9E02A684}"/>
              </a:ext>
            </a:extLst>
          </p:cNvPr>
          <p:cNvSpPr>
            <a:spLocks xmlns:a="http://schemas.openxmlformats.org/drawingml/2006/main" noGrp="1"/>
          </p:cNvSpPr>
          <p:nvPr/>
        </p:nvSpPr>
        <p:spPr>
          <a:xfrm xmlns:a="http://schemas.openxmlformats.org/drawingml/2006/main">
            <a:off x="4552950" y="248602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1">
                <a:solidFill>
                  <a:srgbClr val="C94845"/>
                </a:solidFill>
                <a:latin typeface="Bitstream Charter"/>
                <a:ea typeface="Bitstream Charter"/>
                <a:cs typeface="Bitstream Charter"/>
              </a:defRPr>
            </a:pPr>
            <a:r>
              <a:rPr sz="1125" b="1">
                <a:solidFill>
                  <a:srgbClr val="C94845"/>
                </a:solidFill>
                <a:latin typeface="Bitstream Charter"/>
                <a:ea typeface="Bitstream Charter"/>
                <a:cs typeface="Bitstream Charter"/>
              </a:rPr>
              <a:t>Root cause</a:t>
            </a:r>
          </a:p>
        </p:txBody>
      </p:sp>
      <p:sp>
        <p:nvSpPr>
          <p:cNvPr id="14" name="">
            <a:extLst xmlns:a="http://schemas.openxmlformats.org/drawingml/2006/main">
              <a:ext uri="{FF2B5EF4-FFF2-40B4-BE49-F238E27FC236}">
                <a16:creationId xmlns:a16="http://schemas.microsoft.com/office/drawing/2014/main" id="{605F8DCE-BF82-4EBA-848E-ECD750720010}"/>
              </a:ext>
            </a:extLst>
          </p:cNvPr>
          <p:cNvSpPr>
            <a:spLocks xmlns:a="http://schemas.openxmlformats.org/drawingml/2006/main" noGrp="1"/>
          </p:cNvSpPr>
          <p:nvPr/>
        </p:nvSpPr>
        <p:spPr>
          <a:xfrm xmlns:a="http://schemas.openxmlformats.org/drawingml/2006/main">
            <a:off x="723900" y="3086100"/>
            <a:ext cx="5181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2606D"/>
                </a:solidFill>
                <a:latin typeface="Bitstream Charter"/>
                <a:ea typeface="Bitstream Charter"/>
                <a:cs typeface="Bitstream Charter"/>
              </a:defRPr>
            </a:pPr>
            <a:r>
              <a:rPr sz="1425" b="0">
                <a:solidFill>
                  <a:srgbClr val="52606D"/>
                </a:solidFill>
                <a:latin typeface="Bitstream Charter"/>
                <a:ea typeface="Bitstream Charter"/>
                <a:cs typeface="Bitstream Charter"/>
              </a:rPr>
              <a:t>Checkout and frontend can both show symptoms. The correct answer is payment because the failure started there.</a:t>
            </a:r>
          </a:p>
        </p:txBody>
      </p:sp>
      <p:sp>
        <p:nvSpPr>
          <p:cNvPr id="15" name="">
            <a:extLst xmlns:a="http://schemas.openxmlformats.org/drawingml/2006/main">
              <a:ext uri="{FF2B5EF4-FFF2-40B4-BE49-F238E27FC236}">
                <a16:creationId xmlns:a16="http://schemas.microsoft.com/office/drawing/2014/main" id="{287A8AE3-745E-49A4-AC6D-ECF5FB075BAF}"/>
              </a:ext>
            </a:extLst>
          </p:cNvPr>
          <p:cNvSpPr>
            <a:spLocks xmlns:a="http://schemas.openxmlformats.org/drawingml/2006/main" noGrp="1"/>
          </p:cNvSpPr>
          <p:nvPr/>
        </p:nvSpPr>
        <p:spPr>
          <a:xfrm xmlns:a="http://schemas.openxmlformats.org/drawingml/2006/main">
            <a:off x="704850" y="4010025"/>
            <a:ext cx="5257800" cy="1771650"/>
          </a:xfrm>
          <a:prstGeom xmlns:a="http://schemas.openxmlformats.org/drawingml/2006/main" prst="rect">
            <a:avLst/>
          </a:prstGeom>
          <a:solidFill xmlns:a="http://schemas.openxmlformats.org/drawingml/2006/main">
            <a:srgbClr val="F8FBFD"/>
          </a:solidFill>
          <a:ln xmlns:a="http://schemas.openxmlformats.org/drawingml/2006/main" w="9525">
            <a:solidFill>
              <a:srgbClr val="CBD5E1"/>
            </a:solidFill>
          </a:ln>
        </p:spPr>
      </p:sp>
      <p:sp>
        <p:nvSpPr>
          <p:cNvPr id="16" name="">
            <a:extLst xmlns:a="http://schemas.openxmlformats.org/drawingml/2006/main">
              <a:ext uri="{FF2B5EF4-FFF2-40B4-BE49-F238E27FC236}">
                <a16:creationId xmlns:a16="http://schemas.microsoft.com/office/drawing/2014/main" id="{47C968F6-70AE-4F92-805D-A1E490FCB73B}"/>
              </a:ext>
            </a:extLst>
          </p:cNvPr>
          <p:cNvSpPr>
            <a:spLocks xmlns:a="http://schemas.openxmlformats.org/drawingml/2006/main" noGrp="1"/>
          </p:cNvSpPr>
          <p:nvPr/>
        </p:nvSpPr>
        <p:spPr>
          <a:xfrm xmlns:a="http://schemas.openxmlformats.org/drawingml/2006/main">
            <a:off x="933450" y="421005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102A43"/>
                </a:solidFill>
                <a:latin typeface="Bitstream Charter"/>
                <a:ea typeface="Bitstream Charter"/>
                <a:cs typeface="Bitstream Charter"/>
              </a:defRPr>
            </a:pPr>
            <a:r>
              <a:rPr sz="1725" b="1">
                <a:solidFill>
                  <a:srgbClr val="102A43"/>
                </a:solidFill>
                <a:latin typeface="Bitstream Charter"/>
                <a:ea typeface="Bitstream Charter"/>
                <a:cs typeface="Bitstream Charter"/>
              </a:rPr>
              <a:t>Evaluation</a:t>
            </a:r>
          </a:p>
        </p:txBody>
      </p:sp>
      <p:sp>
        <p:nvSpPr>
          <p:cNvPr id="17" name="">
            <a:extLst xmlns:a="http://schemas.openxmlformats.org/drawingml/2006/main">
              <a:ext uri="{FF2B5EF4-FFF2-40B4-BE49-F238E27FC236}">
                <a16:creationId xmlns:a16="http://schemas.microsoft.com/office/drawing/2014/main" id="{6FBAEA35-EB4D-41FC-9964-3CDEA9C98620}"/>
              </a:ext>
            </a:extLst>
          </p:cNvPr>
          <p:cNvSpPr>
            <a:spLocks xmlns:a="http://schemas.openxmlformats.org/drawingml/2006/main" noGrp="1"/>
          </p:cNvSpPr>
          <p:nvPr/>
        </p:nvSpPr>
        <p:spPr>
          <a:xfrm xmlns:a="http://schemas.openxmlformats.org/drawingml/2006/main">
            <a:off x="942975" y="4686300"/>
            <a:ext cx="838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138A8A"/>
                </a:solidFill>
                <a:latin typeface="Bitstream Charter"/>
                <a:ea typeface="Bitstream Charter"/>
                <a:cs typeface="Bitstream Charter"/>
              </a:defRPr>
            </a:pPr>
            <a:r>
              <a:rPr sz="1575" b="1">
                <a:solidFill>
                  <a:srgbClr val="138A8A"/>
                </a:solidFill>
                <a:latin typeface="Bitstream Charter"/>
                <a:ea typeface="Bitstream Charter"/>
                <a:cs typeface="Bitstream Charter"/>
              </a:rPr>
              <a:t>Top-1</a:t>
            </a:r>
          </a:p>
        </p:txBody>
      </p:sp>
      <p:sp>
        <p:nvSpPr>
          <p:cNvPr id="18" name="">
            <a:extLst xmlns:a="http://schemas.openxmlformats.org/drawingml/2006/main">
              <a:ext uri="{FF2B5EF4-FFF2-40B4-BE49-F238E27FC236}">
                <a16:creationId xmlns:a16="http://schemas.microsoft.com/office/drawing/2014/main" id="{AEB89ED9-B465-46D9-8FAD-E0987E999AB0}"/>
              </a:ext>
            </a:extLst>
          </p:cNvPr>
          <p:cNvSpPr>
            <a:spLocks xmlns:a="http://schemas.openxmlformats.org/drawingml/2006/main" noGrp="1"/>
          </p:cNvSpPr>
          <p:nvPr/>
        </p:nvSpPr>
        <p:spPr>
          <a:xfrm xmlns:a="http://schemas.openxmlformats.org/drawingml/2006/main">
            <a:off x="1876425" y="4686300"/>
            <a:ext cx="352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52606D"/>
                </a:solidFill>
                <a:latin typeface="Bitstream Charter"/>
                <a:ea typeface="Bitstream Charter"/>
                <a:cs typeface="Bitstream Charter"/>
              </a:defRPr>
            </a:pPr>
            <a:r>
              <a:rPr sz="1350" b="0">
                <a:solidFill>
                  <a:srgbClr val="52606D"/>
                </a:solidFill>
                <a:latin typeface="Bitstream Charter"/>
                <a:ea typeface="Bitstream Charter"/>
                <a:cs typeface="Bitstream Charter"/>
              </a:rPr>
              <a:t>Correct service ranked first</a:t>
            </a:r>
          </a:p>
        </p:txBody>
      </p:sp>
      <p:sp>
        <p:nvSpPr>
          <p:cNvPr id="19" name="">
            <a:extLst xmlns:a="http://schemas.openxmlformats.org/drawingml/2006/main">
              <a:ext uri="{FF2B5EF4-FFF2-40B4-BE49-F238E27FC236}">
                <a16:creationId xmlns:a16="http://schemas.microsoft.com/office/drawing/2014/main" id="{CB1E3D57-EF42-4A36-BB09-A0D73BC40514}"/>
              </a:ext>
            </a:extLst>
          </p:cNvPr>
          <p:cNvSpPr>
            <a:spLocks xmlns:a="http://schemas.openxmlformats.org/drawingml/2006/main" noGrp="1"/>
          </p:cNvSpPr>
          <p:nvPr/>
        </p:nvSpPr>
        <p:spPr>
          <a:xfrm xmlns:a="http://schemas.openxmlformats.org/drawingml/2006/main">
            <a:off x="942975" y="5105400"/>
            <a:ext cx="838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138A8A"/>
                </a:solidFill>
                <a:latin typeface="Bitstream Charter"/>
                <a:ea typeface="Bitstream Charter"/>
                <a:cs typeface="Bitstream Charter"/>
              </a:defRPr>
            </a:pPr>
            <a:r>
              <a:rPr sz="1575" b="1">
                <a:solidFill>
                  <a:srgbClr val="138A8A"/>
                </a:solidFill>
                <a:latin typeface="Bitstream Charter"/>
                <a:ea typeface="Bitstream Charter"/>
                <a:cs typeface="Bitstream Charter"/>
              </a:rPr>
              <a:t>Top-3</a:t>
            </a:r>
          </a:p>
        </p:txBody>
      </p:sp>
      <p:sp>
        <p:nvSpPr>
          <p:cNvPr id="20" name="">
            <a:extLst xmlns:a="http://schemas.openxmlformats.org/drawingml/2006/main">
              <a:ext uri="{FF2B5EF4-FFF2-40B4-BE49-F238E27FC236}">
                <a16:creationId xmlns:a16="http://schemas.microsoft.com/office/drawing/2014/main" id="{28B1D514-0FDD-4FD2-B893-672B66EB410F}"/>
              </a:ext>
            </a:extLst>
          </p:cNvPr>
          <p:cNvSpPr>
            <a:spLocks xmlns:a="http://schemas.openxmlformats.org/drawingml/2006/main" noGrp="1"/>
          </p:cNvSpPr>
          <p:nvPr/>
        </p:nvSpPr>
        <p:spPr>
          <a:xfrm xmlns:a="http://schemas.openxmlformats.org/drawingml/2006/main">
            <a:off x="1876425" y="510540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52606D"/>
                </a:solidFill>
                <a:latin typeface="Bitstream Charter"/>
                <a:ea typeface="Bitstream Charter"/>
                <a:cs typeface="Bitstream Charter"/>
              </a:defRPr>
            </a:pPr>
            <a:r>
              <a:rPr sz="1350" b="0">
                <a:solidFill>
                  <a:srgbClr val="52606D"/>
                </a:solidFill>
                <a:latin typeface="Bitstream Charter"/>
                <a:ea typeface="Bitstream Charter"/>
                <a:cs typeface="Bitstream Charter"/>
              </a:rPr>
              <a:t>Correct service appears in the first three</a:t>
            </a:r>
          </a:p>
        </p:txBody>
      </p:sp>
      <p:sp>
        <p:nvSpPr>
          <p:cNvPr id="21" name="">
            <a:extLst xmlns:a="http://schemas.openxmlformats.org/drawingml/2006/main">
              <a:ext uri="{FF2B5EF4-FFF2-40B4-BE49-F238E27FC236}">
                <a16:creationId xmlns:a16="http://schemas.microsoft.com/office/drawing/2014/main" id="{728A10C6-6E5C-44B1-BEF6-7B967A871475}"/>
              </a:ext>
            </a:extLst>
          </p:cNvPr>
          <p:cNvSpPr>
            <a:spLocks xmlns:a="http://schemas.openxmlformats.org/drawingml/2006/main" noGrp="1"/>
          </p:cNvSpPr>
          <p:nvPr/>
        </p:nvSpPr>
        <p:spPr>
          <a:xfrm xmlns:a="http://schemas.openxmlformats.org/drawingml/2006/main">
            <a:off x="6496050" y="1476375"/>
            <a:ext cx="504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138A8A"/>
                </a:solidFill>
                <a:latin typeface="Bitstream Charter"/>
                <a:ea typeface="Bitstream Charter"/>
                <a:cs typeface="Bitstream Charter"/>
              </a:defRPr>
            </a:pPr>
            <a:r>
              <a:rPr sz="1125" b="1">
                <a:solidFill>
                  <a:srgbClr val="138A8A"/>
                </a:solidFill>
                <a:latin typeface="Bitstream Charter"/>
                <a:ea typeface="Bitstream Charter"/>
                <a:cs typeface="Bitstream Charter"/>
              </a:rPr>
              <a:t>RESEARCH FINDINGS</a:t>
            </a:r>
          </a:p>
        </p:txBody>
      </p:sp>
      <p:sp>
        <p:nvSpPr>
          <p:cNvPr id="22" name="">
            <a:extLst xmlns:a="http://schemas.openxmlformats.org/drawingml/2006/main">
              <a:ext uri="{FF2B5EF4-FFF2-40B4-BE49-F238E27FC236}">
                <a16:creationId xmlns:a16="http://schemas.microsoft.com/office/drawing/2014/main" id="{C6C203FE-88E6-4FAD-BD07-A74063937345}"/>
              </a:ext>
            </a:extLst>
          </p:cNvPr>
          <p:cNvSpPr>
            <a:spLocks xmlns:a="http://schemas.openxmlformats.org/drawingml/2006/main" noGrp="1"/>
          </p:cNvSpPr>
          <p:nvPr/>
        </p:nvSpPr>
        <p:spPr>
          <a:xfrm xmlns:a="http://schemas.openxmlformats.org/drawingml/2006/main">
            <a:off x="6553200" y="19812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102A43"/>
                </a:solidFill>
                <a:latin typeface="Bitstream Charter"/>
                <a:ea typeface="Bitstream Charter"/>
                <a:cs typeface="Bitstream Charter"/>
              </a:defRPr>
            </a:pPr>
            <a:r>
              <a:rPr sz="1650" b="1">
                <a:solidFill>
                  <a:srgbClr val="102A43"/>
                </a:solidFill>
                <a:latin typeface="Bitstream Charter"/>
                <a:ea typeface="Bitstream Charter"/>
                <a:cs typeface="Bitstream Charter"/>
              </a:rPr>
              <a:t>MicroRCA</a:t>
            </a:r>
          </a:p>
        </p:txBody>
      </p:sp>
      <p:sp>
        <p:nvSpPr>
          <p:cNvPr id="23" name="">
            <a:extLst xmlns:a="http://schemas.openxmlformats.org/drawingml/2006/main">
              <a:ext uri="{FF2B5EF4-FFF2-40B4-BE49-F238E27FC236}">
                <a16:creationId xmlns:a16="http://schemas.microsoft.com/office/drawing/2014/main" id="{9DC97B9F-1C85-427A-8749-3577232F2123}"/>
              </a:ext>
            </a:extLst>
          </p:cNvPr>
          <p:cNvSpPr>
            <a:spLocks xmlns:a="http://schemas.openxmlformats.org/drawingml/2006/main" noGrp="1"/>
          </p:cNvSpPr>
          <p:nvPr/>
        </p:nvSpPr>
        <p:spPr>
          <a:xfrm xmlns:a="http://schemas.openxmlformats.org/drawingml/2006/main">
            <a:off x="8020050" y="1971675"/>
            <a:ext cx="323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2606D"/>
                </a:solidFill>
                <a:latin typeface="Bitstream Charter"/>
                <a:ea typeface="Bitstream Charter"/>
                <a:cs typeface="Bitstream Charter"/>
              </a:defRPr>
            </a:pPr>
            <a:r>
              <a:rPr sz="1275" b="0">
                <a:solidFill>
                  <a:srgbClr val="52606D"/>
                </a:solidFill>
                <a:latin typeface="Bitstream Charter"/>
                <a:ea typeface="Bitstream Charter"/>
                <a:cs typeface="Bitstream Charter"/>
              </a:rPr>
              <a:t>Graph ranking with service latency and resource metrics. Practical first baseline candidate.</a:t>
            </a:r>
          </a:p>
        </p:txBody>
      </p:sp>
      <p:sp>
        <p:nvSpPr>
          <p:cNvPr id="24" name="">
            <a:extLst xmlns:a="http://schemas.openxmlformats.org/drawingml/2006/main">
              <a:ext uri="{FF2B5EF4-FFF2-40B4-BE49-F238E27FC236}">
                <a16:creationId xmlns:a16="http://schemas.microsoft.com/office/drawing/2014/main" id="{773538EB-01C6-41A4-BBE2-32A0ECCB781A}"/>
              </a:ext>
            </a:extLst>
          </p:cNvPr>
          <p:cNvSpPr>
            <a:spLocks xmlns:a="http://schemas.openxmlformats.org/drawingml/2006/main" noGrp="1"/>
          </p:cNvSpPr>
          <p:nvPr/>
        </p:nvSpPr>
        <p:spPr>
          <a:xfrm xmlns:a="http://schemas.openxmlformats.org/drawingml/2006/main">
            <a:off x="6553200" y="2647950"/>
            <a:ext cx="4705350" cy="1905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25" name="">
            <a:extLst xmlns:a="http://schemas.openxmlformats.org/drawingml/2006/main">
              <a:ext uri="{FF2B5EF4-FFF2-40B4-BE49-F238E27FC236}">
                <a16:creationId xmlns:a16="http://schemas.microsoft.com/office/drawing/2014/main" id="{6981F952-8985-459B-AF05-16B0107FA8CE}"/>
              </a:ext>
            </a:extLst>
          </p:cNvPr>
          <p:cNvSpPr>
            <a:spLocks xmlns:a="http://schemas.openxmlformats.org/drawingml/2006/main" noGrp="1"/>
          </p:cNvSpPr>
          <p:nvPr/>
        </p:nvSpPr>
        <p:spPr>
          <a:xfrm xmlns:a="http://schemas.openxmlformats.org/drawingml/2006/main">
            <a:off x="6553200" y="28384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102A43"/>
                </a:solidFill>
                <a:latin typeface="Bitstream Charter"/>
                <a:ea typeface="Bitstream Charter"/>
                <a:cs typeface="Bitstream Charter"/>
              </a:defRPr>
            </a:pPr>
            <a:r>
              <a:rPr sz="1650" b="1">
                <a:solidFill>
                  <a:srgbClr val="102A43"/>
                </a:solidFill>
                <a:latin typeface="Bitstream Charter"/>
                <a:ea typeface="Bitstream Charter"/>
                <a:cs typeface="Bitstream Charter"/>
              </a:rPr>
              <a:t>Eadro</a:t>
            </a:r>
          </a:p>
        </p:txBody>
      </p:sp>
      <p:sp>
        <p:nvSpPr>
          <p:cNvPr id="26" name="">
            <a:extLst xmlns:a="http://schemas.openxmlformats.org/drawingml/2006/main">
              <a:ext uri="{FF2B5EF4-FFF2-40B4-BE49-F238E27FC236}">
                <a16:creationId xmlns:a16="http://schemas.microsoft.com/office/drawing/2014/main" id="{E59D9567-3A9F-4282-AFC9-C9C5FFB5C87C}"/>
              </a:ext>
            </a:extLst>
          </p:cNvPr>
          <p:cNvSpPr>
            <a:spLocks xmlns:a="http://schemas.openxmlformats.org/drawingml/2006/main" noGrp="1"/>
          </p:cNvSpPr>
          <p:nvPr/>
        </p:nvSpPr>
        <p:spPr>
          <a:xfrm xmlns:a="http://schemas.openxmlformats.org/drawingml/2006/main">
            <a:off x="8020050" y="2828925"/>
            <a:ext cx="323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2606D"/>
                </a:solidFill>
                <a:latin typeface="Bitstream Charter"/>
                <a:ea typeface="Bitstream Charter"/>
                <a:cs typeface="Bitstream Charter"/>
              </a:defRPr>
            </a:pPr>
            <a:r>
              <a:rPr sz="1275" b="0">
                <a:solidFill>
                  <a:srgbClr val="52606D"/>
                </a:solidFill>
                <a:latin typeface="Bitstream Charter"/>
                <a:ea typeface="Bitstream Charter"/>
                <a:cs typeface="Bitstream Charter"/>
              </a:rPr>
              <a:t>Combines logs, metrics, traces, and a graph attention network. Best design reference, but difficult to reproduce.</a:t>
            </a:r>
          </a:p>
        </p:txBody>
      </p:sp>
      <p:sp>
        <p:nvSpPr>
          <p:cNvPr id="27" name="">
            <a:extLst xmlns:a="http://schemas.openxmlformats.org/drawingml/2006/main">
              <a:ext uri="{FF2B5EF4-FFF2-40B4-BE49-F238E27FC236}">
                <a16:creationId xmlns:a16="http://schemas.microsoft.com/office/drawing/2014/main" id="{80A3C9D0-E383-4D2E-9B53-C3B45DF80C51}"/>
              </a:ext>
            </a:extLst>
          </p:cNvPr>
          <p:cNvSpPr>
            <a:spLocks xmlns:a="http://schemas.openxmlformats.org/drawingml/2006/main" noGrp="1"/>
          </p:cNvSpPr>
          <p:nvPr/>
        </p:nvSpPr>
        <p:spPr>
          <a:xfrm xmlns:a="http://schemas.openxmlformats.org/drawingml/2006/main">
            <a:off x="6553200" y="3600450"/>
            <a:ext cx="4705350" cy="1905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28" name="">
            <a:extLst xmlns:a="http://schemas.openxmlformats.org/drawingml/2006/main">
              <a:ext uri="{FF2B5EF4-FFF2-40B4-BE49-F238E27FC236}">
                <a16:creationId xmlns:a16="http://schemas.microsoft.com/office/drawing/2014/main" id="{285CF9CD-AC41-40E7-BB46-0F2F7E775C22}"/>
              </a:ext>
            </a:extLst>
          </p:cNvPr>
          <p:cNvSpPr>
            <a:spLocks xmlns:a="http://schemas.openxmlformats.org/drawingml/2006/main" noGrp="1"/>
          </p:cNvSpPr>
          <p:nvPr/>
        </p:nvSpPr>
        <p:spPr>
          <a:xfrm xmlns:a="http://schemas.openxmlformats.org/drawingml/2006/main">
            <a:off x="6553200" y="380047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102A43"/>
                </a:solidFill>
                <a:latin typeface="Bitstream Charter"/>
                <a:ea typeface="Bitstream Charter"/>
                <a:cs typeface="Bitstream Charter"/>
              </a:defRPr>
            </a:pPr>
            <a:r>
              <a:rPr sz="1650" b="1">
                <a:solidFill>
                  <a:srgbClr val="102A43"/>
                </a:solidFill>
                <a:latin typeface="Bitstream Charter"/>
                <a:ea typeface="Bitstream Charter"/>
                <a:cs typeface="Bitstream Charter"/>
              </a:rPr>
              <a:t>CausalRCA</a:t>
            </a:r>
          </a:p>
        </p:txBody>
      </p:sp>
      <p:sp>
        <p:nvSpPr>
          <p:cNvPr id="29" name="">
            <a:extLst xmlns:a="http://schemas.openxmlformats.org/drawingml/2006/main">
              <a:ext uri="{FF2B5EF4-FFF2-40B4-BE49-F238E27FC236}">
                <a16:creationId xmlns:a16="http://schemas.microsoft.com/office/drawing/2014/main" id="{0F894CBC-EF21-462F-B01C-404FB65B7D03}"/>
              </a:ext>
            </a:extLst>
          </p:cNvPr>
          <p:cNvSpPr>
            <a:spLocks xmlns:a="http://schemas.openxmlformats.org/drawingml/2006/main" noGrp="1"/>
          </p:cNvSpPr>
          <p:nvPr/>
        </p:nvSpPr>
        <p:spPr>
          <a:xfrm xmlns:a="http://schemas.openxmlformats.org/drawingml/2006/main">
            <a:off x="8020050" y="3790950"/>
            <a:ext cx="323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2606D"/>
                </a:solidFill>
                <a:latin typeface="Bitstream Charter"/>
                <a:ea typeface="Bitstream Charter"/>
                <a:cs typeface="Bitstream Charter"/>
              </a:defRPr>
            </a:pPr>
            <a:r>
              <a:rPr sz="1275" b="0">
                <a:solidFill>
                  <a:srgbClr val="52606D"/>
                </a:solidFill>
                <a:latin typeface="Bitstream Charter"/>
                <a:ea typeface="Bitstream Charter"/>
                <a:cs typeface="Bitstream Charter"/>
              </a:rPr>
              <a:t>Learns a metric-level causal graph. Useful alternative for explaining CPU, memory, or network causes.</a:t>
            </a:r>
          </a:p>
        </p:txBody>
      </p:sp>
      <p:sp>
        <p:nvSpPr>
          <p:cNvPr id="30" name="">
            <a:extLst xmlns:a="http://schemas.openxmlformats.org/drawingml/2006/main">
              <a:ext uri="{FF2B5EF4-FFF2-40B4-BE49-F238E27FC236}">
                <a16:creationId xmlns:a16="http://schemas.microsoft.com/office/drawing/2014/main" id="{FB2AE273-4051-4C34-9FF3-28B23AF67257}"/>
              </a:ext>
            </a:extLst>
          </p:cNvPr>
          <p:cNvSpPr>
            <a:spLocks xmlns:a="http://schemas.openxmlformats.org/drawingml/2006/main" noGrp="1"/>
          </p:cNvSpPr>
          <p:nvPr/>
        </p:nvSpPr>
        <p:spPr>
          <a:xfrm xmlns:a="http://schemas.openxmlformats.org/drawingml/2006/main">
            <a:off x="6477000" y="4762500"/>
            <a:ext cx="4838700" cy="1019175"/>
          </a:xfrm>
          <a:prstGeom xmlns:a="http://schemas.openxmlformats.org/drawingml/2006/main" prst="rect">
            <a:avLst/>
          </a:prstGeom>
          <a:solidFill xmlns:a="http://schemas.openxmlformats.org/drawingml/2006/main">
            <a:srgbClr val="E8F5F2"/>
          </a:solidFill>
          <a:ln xmlns:a="http://schemas.openxmlformats.org/drawingml/2006/main" w="9525">
            <a:solidFill>
              <a:srgbClr val="138A8A"/>
            </a:solidFill>
          </a:ln>
        </p:spPr>
      </p:sp>
      <p:sp>
        <p:nvSpPr>
          <p:cNvPr id="31" name="">
            <a:extLst xmlns:a="http://schemas.openxmlformats.org/drawingml/2006/main">
              <a:ext uri="{FF2B5EF4-FFF2-40B4-BE49-F238E27FC236}">
                <a16:creationId xmlns:a16="http://schemas.microsoft.com/office/drawing/2014/main" id="{62E38F14-F459-4D81-B3F4-A0D35DDA9EB3}"/>
              </a:ext>
            </a:extLst>
          </p:cNvPr>
          <p:cNvSpPr>
            <a:spLocks xmlns:a="http://schemas.openxmlformats.org/drawingml/2006/main" noGrp="1"/>
          </p:cNvSpPr>
          <p:nvPr/>
        </p:nvSpPr>
        <p:spPr>
          <a:xfrm xmlns:a="http://schemas.openxmlformats.org/drawingml/2006/main">
            <a:off x="6715125" y="4933950"/>
            <a:ext cx="161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138A8A"/>
                </a:solidFill>
                <a:latin typeface="Bitstream Charter"/>
                <a:ea typeface="Bitstream Charter"/>
                <a:cs typeface="Bitstream Charter"/>
              </a:defRPr>
            </a:pPr>
            <a:r>
              <a:rPr sz="1500" b="1">
                <a:solidFill>
                  <a:srgbClr val="138A8A"/>
                </a:solidFill>
                <a:latin typeface="Bitstream Charter"/>
                <a:ea typeface="Bitstream Charter"/>
                <a:cs typeface="Bitstream Charter"/>
              </a:rPr>
              <a:t>Proposed</a:t>
            </a:r>
          </a:p>
          <a:p xmlns:a="http://schemas.openxmlformats.org/drawingml/2006/main">
            <a:pPr algn="l">
              <a:defRPr sz="1500" b="1">
                <a:solidFill>
                  <a:srgbClr val="138A8A"/>
                </a:solidFill>
                <a:latin typeface="Bitstream Charter"/>
                <a:ea typeface="Bitstream Charter"/>
                <a:cs typeface="Bitstream Charter"/>
              </a:defRPr>
            </a:pPr>
            <a:r>
              <a:rPr sz="1500" b="1">
                <a:solidFill>
                  <a:srgbClr val="138A8A"/>
                </a:solidFill>
                <a:latin typeface="Bitstream Charter"/>
                <a:ea typeface="Bitstream Charter"/>
                <a:cs typeface="Bitstream Charter"/>
              </a:rPr>
              <a:t>direction</a:t>
            </a:r>
          </a:p>
        </p:txBody>
      </p:sp>
      <p:sp>
        <p:nvSpPr>
          <p:cNvPr id="32" name="">
            <a:extLst xmlns:a="http://schemas.openxmlformats.org/drawingml/2006/main">
              <a:ext uri="{FF2B5EF4-FFF2-40B4-BE49-F238E27FC236}">
                <a16:creationId xmlns:a16="http://schemas.microsoft.com/office/drawing/2014/main" id="{2A23F731-7E65-4C25-8FA6-E3BFF4F8CD86}"/>
              </a:ext>
            </a:extLst>
          </p:cNvPr>
          <p:cNvSpPr>
            <a:spLocks xmlns:a="http://schemas.openxmlformats.org/drawingml/2006/main" noGrp="1"/>
          </p:cNvSpPr>
          <p:nvPr/>
        </p:nvSpPr>
        <p:spPr>
          <a:xfrm xmlns:a="http://schemas.openxmlformats.org/drawingml/2006/main">
            <a:off x="8401050" y="4953000"/>
            <a:ext cx="2647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0">
                <a:solidFill>
                  <a:srgbClr val="102A43"/>
                </a:solidFill>
                <a:latin typeface="Bitstream Charter"/>
                <a:ea typeface="Bitstream Charter"/>
                <a:cs typeface="Bitstream Charter"/>
              </a:defRPr>
            </a:pPr>
            <a:r>
              <a:rPr sz="1125" b="0">
                <a:solidFill>
                  <a:srgbClr val="102A43"/>
                </a:solidFill>
                <a:latin typeface="Bitstream Charter"/>
                <a:ea typeface="Bitstream Charter"/>
                <a:cs typeface="Bitstream Charter"/>
              </a:rPr>
              <a:t>Test MicroRCA first. Build the service graph from OpenTelemetry traces, then evaluate every method on the same injected-fault dataset.</a:t>
            </a:r>
          </a:p>
        </p:txBody>
      </p:sp>
      <p:sp>
        <p:nvSpPr>
          <p:cNvPr id="33" name="">
            <a:extLst xmlns:a="http://schemas.openxmlformats.org/drawingml/2006/main">
              <a:ext uri="{FF2B5EF4-FFF2-40B4-BE49-F238E27FC236}">
                <a16:creationId xmlns:a16="http://schemas.microsoft.com/office/drawing/2014/main" id="{23C16C15-1B83-48B0-9D26-8304DF55C7DF}"/>
              </a:ext>
            </a:extLst>
          </p:cNvPr>
          <p:cNvSpPr>
            <a:spLocks xmlns:a="http://schemas.openxmlformats.org/drawingml/2006/main" noGrp="1"/>
          </p:cNvSpPr>
          <p:nvPr/>
        </p:nvSpPr>
        <p:spPr>
          <a:xfrm xmlns:a="http://schemas.openxmlformats.org/drawingml/2006/main">
            <a:off x="685800" y="63436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0">
                <a:solidFill>
                  <a:srgbClr val="52606D"/>
                </a:solidFill>
                <a:latin typeface="Bitstream Charter"/>
                <a:ea typeface="Bitstream Charter"/>
                <a:cs typeface="Bitstream Charter"/>
              </a:defRPr>
            </a:pPr>
            <a:r>
              <a:rPr sz="1050" b="0">
                <a:solidFill>
                  <a:srgbClr val="52606D"/>
                </a:solidFill>
                <a:latin typeface="Bitstream Charter"/>
                <a:ea typeface="Bitstream Charter"/>
                <a:cs typeface="Bitstream Charter"/>
              </a:rPr>
              <a:t>Akhilesh Tandur · Linear 298-20</a:t>
            </a:r>
          </a:p>
        </p:txBody>
      </p:sp>
    </p:spTree>
    <p:extLst>
      <p:ext uri="{BB962C8B-B14F-4D97-AF65-F5344CB8AC3E}">
        <p14:creationId xmlns:p14="http://schemas.microsoft.com/office/powerpoint/2010/main" val="7630010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2026-09-10T05:09:35.1400000Z</dcterms:created>
  <dcterms:modified xsi:type="dcterms:W3CDTF">2026-09-10T05:09:35.1400000Z</dcterms:modified>
</coreProperties>
</file>